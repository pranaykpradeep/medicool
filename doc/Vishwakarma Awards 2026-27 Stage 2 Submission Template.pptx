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76" r:id="rId4"/>
    <p:sldId id="258" r:id="rId5"/>
    <p:sldId id="278" r:id="rId6"/>
    <p:sldId id="279" r:id="rId7"/>
    <p:sldId id="260" r:id="rId8"/>
    <p:sldId id="281" r:id="rId9"/>
    <p:sldId id="282" r:id="rId10"/>
    <p:sldId id="261" r:id="rId11"/>
    <p:sldId id="263" r:id="rId12"/>
    <p:sldId id="284" r:id="rId13"/>
    <p:sldId id="283" r:id="rId14"/>
    <p:sldId id="287" r:id="rId15"/>
    <p:sldId id="288" r:id="rId16"/>
    <p:sldId id="267" r:id="rId17"/>
    <p:sldId id="289" r:id="rId18"/>
    <p:sldId id="290" r:id="rId19"/>
    <p:sldId id="291" r:id="rId20"/>
    <p:sldId id="292" r:id="rId21"/>
    <p:sldId id="272" r:id="rId22"/>
    <p:sldId id="273" r:id="rId23"/>
    <p:sldId id="275" r:id="rId24"/>
  </p:sldIdLst>
  <p:sldSz cx="12192000" cy="6858000"/>
  <p:notesSz cx="6858000" cy="9144000"/>
  <p:embeddedFontLst>
    <p:embeddedFont>
      <p:font typeface="DM Sans" pitchFamily="2" charset="0"/>
      <p:regular r:id="rId26"/>
      <p:bold r:id="rId27"/>
      <p:italic r:id="rId28"/>
      <p:boldItalic r:id="rId29"/>
    </p:embeddedFont>
    <p:embeddedFont>
      <p:font typeface="Poppins SemiBold" panose="00000700000000000000" pitchFamily="2" charset="0"/>
      <p:bold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A3A8202-E484-496F-BAE3-F73CC9AC0619}">
  <a:tblStyle styleId="{8A3A8202-E484-496F-BAE3-F73CC9AC061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>
          <a:extLst>
            <a:ext uri="{FF2B5EF4-FFF2-40B4-BE49-F238E27FC236}">
              <a16:creationId xmlns:a16="http://schemas.microsoft.com/office/drawing/2014/main" id="{435BB58B-B428-5871-2F01-1F8942C7B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>
            <a:extLst>
              <a:ext uri="{FF2B5EF4-FFF2-40B4-BE49-F238E27FC236}">
                <a16:creationId xmlns:a16="http://schemas.microsoft.com/office/drawing/2014/main" id="{AD730904-4EFC-1B87-88D0-1146651D5D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:notes">
            <a:extLst>
              <a:ext uri="{FF2B5EF4-FFF2-40B4-BE49-F238E27FC236}">
                <a16:creationId xmlns:a16="http://schemas.microsoft.com/office/drawing/2014/main" id="{DB91EE5C-1770-C749-60B4-56E0B6D2B2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5700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b7065920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3fb7065920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8AD38AA3-DBFE-10EC-E8EB-A504D028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b70659208_0_0:notes">
            <a:extLst>
              <a:ext uri="{FF2B5EF4-FFF2-40B4-BE49-F238E27FC236}">
                <a16:creationId xmlns:a16="http://schemas.microsoft.com/office/drawing/2014/main" id="{36849480-24A9-226E-599D-998B74BD0D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3fb70659208_0_0:notes">
            <a:extLst>
              <a:ext uri="{FF2B5EF4-FFF2-40B4-BE49-F238E27FC236}">
                <a16:creationId xmlns:a16="http://schemas.microsoft.com/office/drawing/2014/main" id="{47C924A7-2B7D-CA4E-0EBD-E4BC17DAD6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1454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b70659208_26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g3fb70659208_26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9EBB7AB9-7A6B-DB25-AFD4-851911428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>
            <a:extLst>
              <a:ext uri="{FF2B5EF4-FFF2-40B4-BE49-F238E27FC236}">
                <a16:creationId xmlns:a16="http://schemas.microsoft.com/office/drawing/2014/main" id="{53CC4FB6-69DD-5EF8-C3D4-4618EAD4E6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4:notes">
            <a:extLst>
              <a:ext uri="{FF2B5EF4-FFF2-40B4-BE49-F238E27FC236}">
                <a16:creationId xmlns:a16="http://schemas.microsoft.com/office/drawing/2014/main" id="{9FC9B860-E11F-EBAC-B4F6-B3EEBE8937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061248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B51159E7-186F-E7B3-3AAC-64190A00B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>
            <a:extLst>
              <a:ext uri="{FF2B5EF4-FFF2-40B4-BE49-F238E27FC236}">
                <a16:creationId xmlns:a16="http://schemas.microsoft.com/office/drawing/2014/main" id="{FDB1878F-E1CD-244D-B542-29B5F4C8B2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4:notes">
            <a:extLst>
              <a:ext uri="{FF2B5EF4-FFF2-40B4-BE49-F238E27FC236}">
                <a16:creationId xmlns:a16="http://schemas.microsoft.com/office/drawing/2014/main" id="{CFC381F6-0730-21B4-83B3-38667DC600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56399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b70659208_26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3fb70659208_26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b70659208_26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g3fb70659208_26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>
          <a:extLst>
            <a:ext uri="{FF2B5EF4-FFF2-40B4-BE49-F238E27FC236}">
              <a16:creationId xmlns:a16="http://schemas.microsoft.com/office/drawing/2014/main" id="{69C55DA9-1F4C-8ABD-CB45-9A6370EF0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b70659208_26_93:notes">
            <a:extLst>
              <a:ext uri="{FF2B5EF4-FFF2-40B4-BE49-F238E27FC236}">
                <a16:creationId xmlns:a16="http://schemas.microsoft.com/office/drawing/2014/main" id="{A631FAA6-5045-082A-0FA9-B4DBBED3D9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g3fb70659208_26_93:notes">
            <a:extLst>
              <a:ext uri="{FF2B5EF4-FFF2-40B4-BE49-F238E27FC236}">
                <a16:creationId xmlns:a16="http://schemas.microsoft.com/office/drawing/2014/main" id="{86ABA4B7-DA46-3A0A-9E1E-E742037CA1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5379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b70659208_26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g3fb70659208_26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>
          <a:extLst>
            <a:ext uri="{FF2B5EF4-FFF2-40B4-BE49-F238E27FC236}">
              <a16:creationId xmlns:a16="http://schemas.microsoft.com/office/drawing/2014/main" id="{96C0A1A1-2BBF-3307-4BBA-1D8499D3E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fb70659208_26_93:notes">
            <a:extLst>
              <a:ext uri="{FF2B5EF4-FFF2-40B4-BE49-F238E27FC236}">
                <a16:creationId xmlns:a16="http://schemas.microsoft.com/office/drawing/2014/main" id="{3A7F0A9B-2340-A9B3-3FE2-2941E0348F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g3fb70659208_26_93:notes">
            <a:extLst>
              <a:ext uri="{FF2B5EF4-FFF2-40B4-BE49-F238E27FC236}">
                <a16:creationId xmlns:a16="http://schemas.microsoft.com/office/drawing/2014/main" id="{1157252E-838F-C98A-3472-A509798871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996819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fb70659208_26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g3fb70659208_26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fb70659208_26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g3fb70659208_26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fb70659208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g3fb70659208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fb70659208_26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g3fb70659208_26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fb70659208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63" name="Google Shape;463;g3fb70659208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fb70659208_26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g3fb70659208_26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fb70659208_26_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g3fb70659208_26_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6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3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5.png"/><Relationship Id="rId4" Type="http://schemas.openxmlformats.org/officeDocument/2006/relationships/image" Target="../media/image9.png"/><Relationship Id="rId9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9.png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9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8.png"/><Relationship Id="rId7" Type="http://schemas.openxmlformats.org/officeDocument/2006/relationships/image" Target="../media/image3.png"/><Relationship Id="rId12" Type="http://schemas.openxmlformats.org/officeDocument/2006/relationships/hyperlink" Target="https://github.com/pranaykpradeep/medicool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32.png"/><Relationship Id="rId5" Type="http://schemas.openxmlformats.org/officeDocument/2006/relationships/image" Target="../media/image22.png"/><Relationship Id="rId10" Type="http://schemas.openxmlformats.org/officeDocument/2006/relationships/image" Target="../media/image31.png"/><Relationship Id="rId4" Type="http://schemas.openxmlformats.org/officeDocument/2006/relationships/image" Target="../media/image9.png"/><Relationship Id="rId9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8.png"/><Relationship Id="rId7" Type="http://schemas.openxmlformats.org/officeDocument/2006/relationships/image" Target="../media/image39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1" Type="http://schemas.openxmlformats.org/officeDocument/2006/relationships/image" Target="../media/image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9.png"/><Relationship Id="rId9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svg"/><Relationship Id="rId5" Type="http://schemas.openxmlformats.org/officeDocument/2006/relationships/image" Target="../media/image45.svg"/><Relationship Id="rId10" Type="http://schemas.openxmlformats.org/officeDocument/2006/relationships/image" Target="../media/image4.png"/><Relationship Id="rId4" Type="http://schemas.openxmlformats.org/officeDocument/2006/relationships/image" Target="../media/image44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20528" y="3182619"/>
            <a:ext cx="7551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VK26-IITI-HT-0087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3905250" y="4062412"/>
            <a:ext cx="4381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70213" y="2268205"/>
            <a:ext cx="5851614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00669" y="80825"/>
            <a:ext cx="1491330" cy="78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title="VK colored transparent logo.png"/>
          <p:cNvPicPr preferRelativeResize="0"/>
          <p:nvPr/>
        </p:nvPicPr>
        <p:blipFill rotWithShape="1">
          <a:blip r:embed="rId6">
            <a:alphaModFix/>
          </a:blip>
          <a:srcRect l="14673" t="33074" r="15820" b="44466"/>
          <a:stretch/>
        </p:blipFill>
        <p:spPr>
          <a:xfrm>
            <a:off x="0" y="80825"/>
            <a:ext cx="2428825" cy="78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0562" y="1338571"/>
            <a:ext cx="10810876" cy="4472307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3456154" y="3882316"/>
            <a:ext cx="52796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600" b="1" dirty="0">
                <a:solidFill>
                  <a:srgbClr val="33415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Portable Smart Thermoelectric Medicine Storage System.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90400" y="476249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1E3A8A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Title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0" name="Google Shape;100;p14" title="MBF_Logo_202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title="VK colored transparent logo.png"/>
          <p:cNvPicPr preferRelativeResize="0"/>
          <p:nvPr/>
        </p:nvPicPr>
        <p:blipFill rotWithShape="1">
          <a:blip r:embed="rId5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65178F-EC08-01E3-767E-BD854BBD9D71}"/>
              </a:ext>
            </a:extLst>
          </p:cNvPr>
          <p:cNvSpPr txBox="1"/>
          <p:nvPr/>
        </p:nvSpPr>
        <p:spPr>
          <a:xfrm>
            <a:off x="4404671" y="3044279"/>
            <a:ext cx="33826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MEDICOOL</a:t>
            </a:r>
            <a:endParaRPr lang="en-IN" sz="3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>
          <a:extLst>
            <a:ext uri="{FF2B5EF4-FFF2-40B4-BE49-F238E27FC236}">
              <a16:creationId xmlns:a16="http://schemas.microsoft.com/office/drawing/2014/main" id="{2655184A-0142-0336-AD28-B96E735A4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>
            <a:extLst>
              <a:ext uri="{FF2B5EF4-FFF2-40B4-BE49-F238E27FC236}">
                <a16:creationId xmlns:a16="http://schemas.microsoft.com/office/drawing/2014/main" id="{1E2175C7-11BB-60FE-2B3A-E11CBB88E77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0562" y="1338571"/>
            <a:ext cx="10810876" cy="4472307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>
            <a:extLst>
              <a:ext uri="{FF2B5EF4-FFF2-40B4-BE49-F238E27FC236}">
                <a16:creationId xmlns:a16="http://schemas.microsoft.com/office/drawing/2014/main" id="{F7985CA0-1D2B-A4A2-9F67-C093B5B5D6FF}"/>
              </a:ext>
            </a:extLst>
          </p:cNvPr>
          <p:cNvSpPr txBox="1"/>
          <p:nvPr/>
        </p:nvSpPr>
        <p:spPr>
          <a:xfrm>
            <a:off x="1733798" y="2285395"/>
            <a:ext cx="8724404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People carrying temperature-sensitive medicines may struggle to maintain required storage conditions during travel, outdoor activities, power interruptions and in places without reliable refrigeration.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People carrying temperature-sensitive medicines may struggle to maintain required storage conditions during travel, outdoor activities, power interruptions and in places without reliable refrigeration.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Google Shape;97;p14">
            <a:extLst>
              <a:ext uri="{FF2B5EF4-FFF2-40B4-BE49-F238E27FC236}">
                <a16:creationId xmlns:a16="http://schemas.microsoft.com/office/drawing/2014/main" id="{57528C6C-0771-90CD-0B65-A556FAF294B2}"/>
              </a:ext>
            </a:extLst>
          </p:cNvPr>
          <p:cNvSpPr txBox="1"/>
          <p:nvPr/>
        </p:nvSpPr>
        <p:spPr>
          <a:xfrm>
            <a:off x="1233488" y="1604234"/>
            <a:ext cx="48960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Problem Statement: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8" name="Google Shape;98;p14" descr="image.png">
            <a:extLst>
              <a:ext uri="{FF2B5EF4-FFF2-40B4-BE49-F238E27FC236}">
                <a16:creationId xmlns:a16="http://schemas.microsoft.com/office/drawing/2014/main" id="{7B7A14AA-B1AC-6229-0540-9F12587C599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1705324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>
            <a:extLst>
              <a:ext uri="{FF2B5EF4-FFF2-40B4-BE49-F238E27FC236}">
                <a16:creationId xmlns:a16="http://schemas.microsoft.com/office/drawing/2014/main" id="{A6BA4B0E-C5D2-117D-6DB7-3AE3C2B650CA}"/>
              </a:ext>
            </a:extLst>
          </p:cNvPr>
          <p:cNvSpPr txBox="1"/>
          <p:nvPr/>
        </p:nvSpPr>
        <p:spPr>
          <a:xfrm>
            <a:off x="590400" y="447618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1E3A8A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Problem Context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0" name="Google Shape;100;p14" title="MBF_Logo_2020.png">
            <a:extLst>
              <a:ext uri="{FF2B5EF4-FFF2-40B4-BE49-F238E27FC236}">
                <a16:creationId xmlns:a16="http://schemas.microsoft.com/office/drawing/2014/main" id="{814B6921-6708-DCA1-9543-27E50A2D537E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title="VK colored transparent logo.png">
            <a:extLst>
              <a:ext uri="{FF2B5EF4-FFF2-40B4-BE49-F238E27FC236}">
                <a16:creationId xmlns:a16="http://schemas.microsoft.com/office/drawing/2014/main" id="{1F551469-3508-897B-A2F2-5F0CC3628AF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2C7F9A-03A3-5C83-A9D1-AE1ED2EEAE30}"/>
              </a:ext>
            </a:extLst>
          </p:cNvPr>
          <p:cNvSpPr txBox="1"/>
          <p:nvPr/>
        </p:nvSpPr>
        <p:spPr>
          <a:xfrm>
            <a:off x="1233488" y="4330436"/>
            <a:ext cx="30943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Core innovation: </a:t>
            </a:r>
            <a:endParaRPr lang="en-US" sz="1800" b="1" dirty="0">
              <a:solidFill>
                <a:srgbClr val="334155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  <a:p>
            <a:endParaRPr lang="en-US" sz="1800" b="1" i="0" u="none" strike="noStrike" cap="none" dirty="0">
              <a:solidFill>
                <a:srgbClr val="334155"/>
              </a:solidFill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6506CB-2697-DD0D-B3F9-2FC9A440061F}"/>
              </a:ext>
            </a:extLst>
          </p:cNvPr>
          <p:cNvSpPr txBox="1"/>
          <p:nvPr/>
        </p:nvSpPr>
        <p:spPr>
          <a:xfrm>
            <a:off x="6213987" y="4257368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715073-4DDD-F668-AD5F-D875E5AF1239}"/>
              </a:ext>
            </a:extLst>
          </p:cNvPr>
          <p:cNvSpPr txBox="1"/>
          <p:nvPr/>
        </p:nvSpPr>
        <p:spPr>
          <a:xfrm>
            <a:off x="1733798" y="4935143"/>
            <a:ext cx="6145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Rechargeable, sensor-controlled thermoelectric medicine storage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9" name="Google Shape;98;p14" descr="image.png">
            <a:extLst>
              <a:ext uri="{FF2B5EF4-FFF2-40B4-BE49-F238E27FC236}">
                <a16:creationId xmlns:a16="http://schemas.microsoft.com/office/drawing/2014/main" id="{D3297DBA-CA7B-A58C-3D33-C104EE715FB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4371928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3912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94;p14" descr="image.png">
            <a:extLst>
              <a:ext uri="{FF2B5EF4-FFF2-40B4-BE49-F238E27FC236}">
                <a16:creationId xmlns:a16="http://schemas.microsoft.com/office/drawing/2014/main" id="{1EC3D435-2BAD-AE80-276B-3E968272639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0562" y="1338571"/>
            <a:ext cx="10810876" cy="4472307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1E3A8A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User Journey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1355256" y="1626713"/>
            <a:ext cx="51405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Visual "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Before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State" Requirement</a:t>
            </a:r>
            <a:endParaRPr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1355256" y="2373633"/>
            <a:ext cx="7811286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User relies on ice/gel packs, an insulated bag or nearby refrigeration. Cooling duration and temperature may require close attention during travel or outages.</a:t>
            </a:r>
            <a:b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</a:b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Baseline temperature excursions, cooling duration and user burden have not yet been quantified; establish through user research and controlled comparison.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1437" y="1578007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title="VK colored transparent logo.png"/>
          <p:cNvPicPr preferRelativeResize="0"/>
          <p:nvPr/>
        </p:nvPicPr>
        <p:blipFill rotWithShape="1">
          <a:blip r:embed="rId6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6">
          <a:extLst>
            <a:ext uri="{FF2B5EF4-FFF2-40B4-BE49-F238E27FC236}">
              <a16:creationId xmlns:a16="http://schemas.microsoft.com/office/drawing/2014/main" id="{5F451D69-6B4A-26ED-FC26-23B35162F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94;p14" descr="image.png">
            <a:extLst>
              <a:ext uri="{FF2B5EF4-FFF2-40B4-BE49-F238E27FC236}">
                <a16:creationId xmlns:a16="http://schemas.microsoft.com/office/drawing/2014/main" id="{AECA4965-512E-1CBA-BA00-875C58480C7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0562" y="1338571"/>
            <a:ext cx="10810876" cy="4472307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>
            <a:extLst>
              <a:ext uri="{FF2B5EF4-FFF2-40B4-BE49-F238E27FC236}">
                <a16:creationId xmlns:a16="http://schemas.microsoft.com/office/drawing/2014/main" id="{E7B32A0A-3DE1-BF20-2A9B-09762266F410}"/>
              </a:ext>
            </a:extLst>
          </p:cNvPr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1E3A8A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User Journey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Google Shape;114;p15">
            <a:extLst>
              <a:ext uri="{FF2B5EF4-FFF2-40B4-BE49-F238E27FC236}">
                <a16:creationId xmlns:a16="http://schemas.microsoft.com/office/drawing/2014/main" id="{895408B4-80B5-E845-81FD-E8AADD5451BD}"/>
              </a:ext>
            </a:extLst>
          </p:cNvPr>
          <p:cNvSpPr txBox="1"/>
          <p:nvPr/>
        </p:nvSpPr>
        <p:spPr>
          <a:xfrm>
            <a:off x="1355256" y="1626713"/>
            <a:ext cx="51405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Visual "After State" Requirement</a:t>
            </a:r>
            <a:endParaRPr lang="en-US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Google Shape;115;p15">
            <a:extLst>
              <a:ext uri="{FF2B5EF4-FFF2-40B4-BE49-F238E27FC236}">
                <a16:creationId xmlns:a16="http://schemas.microsoft.com/office/drawing/2014/main" id="{2792A6C2-EC4C-E17A-76FA-82B90C85EDDB}"/>
              </a:ext>
            </a:extLst>
          </p:cNvPr>
          <p:cNvSpPr txBox="1"/>
          <p:nvPr/>
        </p:nvSpPr>
        <p:spPr>
          <a:xfrm>
            <a:off x="1355256" y="2373633"/>
            <a:ext cx="7811286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Place medicine in the insulated chamber → sensor measures temperature → controller regulates the Peltier cooling stage → display/alerts report chamber conditions.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Performance gains are not yet measured. Planned metrics: time to reach target temperature, stability, recovery after opening and battery runtime.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7" name="Google Shape;117;p15" descr="image.png">
            <a:extLst>
              <a:ext uri="{FF2B5EF4-FFF2-40B4-BE49-F238E27FC236}">
                <a16:creationId xmlns:a16="http://schemas.microsoft.com/office/drawing/2014/main" id="{14FBE905-32A5-9788-86C0-3722791C952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1437" y="1578007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title="MBF_Logo_2020.png">
            <a:extLst>
              <a:ext uri="{FF2B5EF4-FFF2-40B4-BE49-F238E27FC236}">
                <a16:creationId xmlns:a16="http://schemas.microsoft.com/office/drawing/2014/main" id="{94A805C5-D5EB-D99A-ECC0-A3682241A89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 title="VK colored transparent logo.png">
            <a:extLst>
              <a:ext uri="{FF2B5EF4-FFF2-40B4-BE49-F238E27FC236}">
                <a16:creationId xmlns:a16="http://schemas.microsoft.com/office/drawing/2014/main" id="{CC1B605B-05FF-2DF0-B8EC-43F3CF407DA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30984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5714641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528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1722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91600" y="956220"/>
            <a:ext cx="2667000" cy="649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360240" y="1759523"/>
            <a:ext cx="6594987" cy="3801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40542" y="1739056"/>
            <a:ext cx="3856396" cy="346381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33400" y="389278"/>
            <a:ext cx="6594987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u="none" strike="noStrike" cap="none" dirty="0" err="1">
                <a:solidFill>
                  <a:srgbClr val="0F172A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MediCool</a:t>
            </a:r>
            <a:r>
              <a:rPr lang="en-US" sz="22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 | Problem Context &amp; User Journey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695324" y="5838652"/>
            <a:ext cx="10513450" cy="446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Exemplar Submission Note: Team ID: VK26-IITI-HT-0087 | Track: Health Tech| Core Innovation: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Portable Smart Thermoelectric Medicine Storage System.</a:t>
            </a:r>
          </a:p>
          <a:p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695325" y="1080045"/>
            <a:ext cx="2343150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0369A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Portable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695325" y="1339006"/>
            <a:ext cx="23431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Times New Roman" panose="02020603050405020304" pitchFamily="18" charset="0"/>
                <a:ea typeface="DM Sans Medium"/>
                <a:cs typeface="Times New Roman" panose="02020603050405020304" pitchFamily="18" charset="0"/>
                <a:sym typeface="DM Sans Medium"/>
              </a:rPr>
              <a:t>MEDICINE STORAGE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3514725" y="1080045"/>
            <a:ext cx="2343150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0369A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Active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3514725" y="1339006"/>
            <a:ext cx="23431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Times New Roman" panose="02020603050405020304" pitchFamily="18" charset="0"/>
                <a:ea typeface="DM Sans Medium"/>
                <a:cs typeface="Times New Roman" panose="02020603050405020304" pitchFamily="18" charset="0"/>
                <a:sym typeface="DM Sans Medium"/>
              </a:rPr>
              <a:t>THERMOELECTRIC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0" name="Google Shape;140;p16"/>
          <p:cNvSpPr txBox="1"/>
          <p:nvPr/>
        </p:nvSpPr>
        <p:spPr>
          <a:xfrm>
            <a:off x="6334125" y="1080045"/>
            <a:ext cx="2343150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0369A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Sensor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6334125" y="1339006"/>
            <a:ext cx="23431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64748B"/>
                </a:solidFill>
                <a:latin typeface="Times New Roman" panose="02020603050405020304" pitchFamily="18" charset="0"/>
                <a:ea typeface="DM Sans Medium"/>
                <a:cs typeface="Times New Roman" panose="02020603050405020304" pitchFamily="18" charset="0"/>
                <a:sym typeface="DM Sans Medium"/>
              </a:rPr>
              <a:t>FEEDBACK CONTROL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9153525" y="1080045"/>
            <a:ext cx="2343150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369A1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Battery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9153525" y="1339006"/>
            <a:ext cx="234315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Times New Roman" panose="02020603050405020304" pitchFamily="18" charset="0"/>
                <a:ea typeface="DM Sans Medium"/>
                <a:cs typeface="Times New Roman" panose="02020603050405020304" pitchFamily="18" charset="0"/>
                <a:sym typeface="DM Sans Medium"/>
              </a:rPr>
              <a:t>RECHARGEABLE POWER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485775" y="5215490"/>
            <a:ext cx="4511163" cy="234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 dirty="0">
                <a:solidFill>
                  <a:srgbClr val="64748B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Figure 1: Insulin stored in pouch with ice bag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6" name="Google Shape;146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466018" y="1925937"/>
            <a:ext cx="248982" cy="24622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/>
        </p:nvSpPr>
        <p:spPr>
          <a:xfrm>
            <a:off x="5780151" y="1939081"/>
            <a:ext cx="519264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Target Beneficiaries &amp; Current Challenge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5812240" y="2316823"/>
            <a:ext cx="5831357" cy="624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Target users: </a:t>
            </a:r>
            <a:r>
              <a:rPr lang="en-US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people carrying temperature-sensitive medicines, including insulin users, </a:t>
            </a:r>
            <a:r>
              <a:rPr lang="en-US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travellers</a:t>
            </a:r>
            <a:r>
              <a:rPr lang="en-US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and people in areas with unreliable electricity.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5812240" y="3134497"/>
            <a:ext cx="5831357" cy="624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Current options: </a:t>
            </a:r>
            <a:r>
              <a:rPr lang="en-US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include ice packs, insulated pouches or access to refrigeration. Suitability depends on the medicine, journey duration and ambient conditions.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5812239" y="3921817"/>
            <a:ext cx="5831357" cy="937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Current journey: </a:t>
            </a:r>
            <a:r>
              <a:rPr lang="en-US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</a:t>
            </a:r>
            <a:r>
              <a:rPr lang="en-US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edicine requires controlled storage → user prepares passive cooling or finds refrigeration → temperature may change during travel or outages.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5812238" y="4824999"/>
            <a:ext cx="5831357" cy="624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Evidence gap: </a:t>
            </a:r>
            <a:r>
              <a:rPr lang="en-US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Q</a:t>
            </a:r>
            <a:r>
              <a:rPr lang="en-US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uantify the target users’ needs and baseline temperature </a:t>
            </a:r>
            <a:r>
              <a:rPr lang="en-US" i="0" u="none" strike="noStrike" cap="none" dirty="0" err="1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behaviour</a:t>
            </a:r>
            <a:r>
              <a:rPr lang="en-US" i="0" u="none" strike="noStrike" cap="none" dirty="0">
                <a:solidFill>
                  <a:srgbClr val="334155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before claiming a measurable improvement.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6" name="Google Shape;156;p16" title="MBF_Logo_2020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title="VK colored transparent logo.png"/>
          <p:cNvPicPr preferRelativeResize="0"/>
          <p:nvPr/>
        </p:nvPicPr>
        <p:blipFill rotWithShape="1">
          <a:blip r:embed="rId12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TextBox 157"/>
          <p:cNvSpPr txBox="1"/>
          <p:nvPr/>
        </p:nvSpPr>
        <p:spPr>
          <a:xfrm>
            <a:off x="777240" y="2726471"/>
            <a:ext cx="493776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endParaRPr lang="en-IN" sz="1400" b="1" dirty="0">
              <a:solidFill>
                <a:srgbClr val="527E8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88C7F2-D20C-2C5F-18A8-CB14ECCDFB8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62954" y="1927266"/>
            <a:ext cx="3041408" cy="30610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805" y="1467500"/>
            <a:ext cx="11124390" cy="4668099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1428195" y="1732817"/>
            <a:ext cx="3207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284C7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System Block Diagram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1" name="Google Shape;17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550" y="1735794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1E3A8A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System Architecture &amp; Specs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5" name="Google Shape;175;p17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VK colored transparent logo.png"/>
          <p:cNvPicPr preferRelativeResize="0"/>
          <p:nvPr/>
        </p:nvPicPr>
        <p:blipFill rotWithShape="1">
          <a:blip r:embed="rId6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F054EB3-213C-61CB-C73F-800E54BEAED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2665" b="6945"/>
          <a:stretch>
            <a:fillRect/>
          </a:stretch>
        </p:blipFill>
        <p:spPr>
          <a:xfrm>
            <a:off x="2595101" y="2211864"/>
            <a:ext cx="7001797" cy="37524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>
          <a:extLst>
            <a:ext uri="{FF2B5EF4-FFF2-40B4-BE49-F238E27FC236}">
              <a16:creationId xmlns:a16="http://schemas.microsoft.com/office/drawing/2014/main" id="{B0234932-E487-BD74-2B2D-92A38F085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7" descr="image.png">
            <a:extLst>
              <a:ext uri="{FF2B5EF4-FFF2-40B4-BE49-F238E27FC236}">
                <a16:creationId xmlns:a16="http://schemas.microsoft.com/office/drawing/2014/main" id="{657BBD80-DDC1-8386-75B6-0CE89C9D52F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732" y="1434692"/>
            <a:ext cx="10724535" cy="484610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>
            <a:extLst>
              <a:ext uri="{FF2B5EF4-FFF2-40B4-BE49-F238E27FC236}">
                <a16:creationId xmlns:a16="http://schemas.microsoft.com/office/drawing/2014/main" id="{10C39CC9-E494-01ED-A47B-C420A01C3712}"/>
              </a:ext>
            </a:extLst>
          </p:cNvPr>
          <p:cNvSpPr txBox="1"/>
          <p:nvPr/>
        </p:nvSpPr>
        <p:spPr>
          <a:xfrm>
            <a:off x="2012411" y="1684233"/>
            <a:ext cx="3207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284C7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Target Specifications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Google Shape;168;p17">
            <a:extLst>
              <a:ext uri="{FF2B5EF4-FFF2-40B4-BE49-F238E27FC236}">
                <a16:creationId xmlns:a16="http://schemas.microsoft.com/office/drawing/2014/main" id="{005C6A9A-E13C-1598-F84A-5E72C374DF86}"/>
              </a:ext>
            </a:extLst>
          </p:cNvPr>
          <p:cNvSpPr txBox="1"/>
          <p:nvPr/>
        </p:nvSpPr>
        <p:spPr>
          <a:xfrm>
            <a:off x="1786280" y="2105079"/>
            <a:ext cx="8508093" cy="4062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Payload capacity: 1–2 insulin pens or equivalent vials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temperature: Target 2–8°C, subject to the specific insulin’s storage requirements and validation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monitoring: Real-time sensing with automatic cooling control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backup: Target 4 hours (to be validated)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consumption: To be determined based on the selected Peltier module and cooling load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Cooling method: Peltier thermoelectric cooling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Charging: USB-C rechargeable battery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alerts: High- and low-temperature warnings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Portability: Compact, lightweight, backpack-friendly design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 dissipation: Side-mounted heatsink and fan with a separate exhaust duct</a:t>
            </a:r>
          </a:p>
        </p:txBody>
      </p:sp>
      <p:pic>
        <p:nvPicPr>
          <p:cNvPr id="172" name="Google Shape;172;p17" descr="image.png">
            <a:extLst>
              <a:ext uri="{FF2B5EF4-FFF2-40B4-BE49-F238E27FC236}">
                <a16:creationId xmlns:a16="http://schemas.microsoft.com/office/drawing/2014/main" id="{6C3B486A-CB94-19DE-0027-E8C9537AA7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60138" y="168721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>
            <a:extLst>
              <a:ext uri="{FF2B5EF4-FFF2-40B4-BE49-F238E27FC236}">
                <a16:creationId xmlns:a16="http://schemas.microsoft.com/office/drawing/2014/main" id="{B189B714-044A-28C5-C0FA-2574E8971712}"/>
              </a:ext>
            </a:extLst>
          </p:cNvPr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1E3A8A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System Architecture &amp; Specs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5" name="Google Shape;175;p17" title="MBF_Logo_2020.png">
            <a:extLst>
              <a:ext uri="{FF2B5EF4-FFF2-40B4-BE49-F238E27FC236}">
                <a16:creationId xmlns:a16="http://schemas.microsoft.com/office/drawing/2014/main" id="{908A77A5-7B86-05D3-F601-7CDE7FB7268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VK colored transparent logo.png">
            <a:extLst>
              <a:ext uri="{FF2B5EF4-FFF2-40B4-BE49-F238E27FC236}">
                <a16:creationId xmlns:a16="http://schemas.microsoft.com/office/drawing/2014/main" id="{F3B26A0C-F575-70CD-0250-015A98F8A2F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44068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>
          <a:extLst>
            <a:ext uri="{FF2B5EF4-FFF2-40B4-BE49-F238E27FC236}">
              <a16:creationId xmlns:a16="http://schemas.microsoft.com/office/drawing/2014/main" id="{E3492D09-C016-AB54-1904-76946FF5A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7" descr="image.png">
            <a:extLst>
              <a:ext uri="{FF2B5EF4-FFF2-40B4-BE49-F238E27FC236}">
                <a16:creationId xmlns:a16="http://schemas.microsoft.com/office/drawing/2014/main" id="{4DF06DEB-0310-D66E-C4CB-69C0D14148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732" y="1434692"/>
            <a:ext cx="10724535" cy="4846108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>
            <a:extLst>
              <a:ext uri="{FF2B5EF4-FFF2-40B4-BE49-F238E27FC236}">
                <a16:creationId xmlns:a16="http://schemas.microsoft.com/office/drawing/2014/main" id="{44ACFF2C-7A74-DCA4-E973-0FFB07513C5D}"/>
              </a:ext>
            </a:extLst>
          </p:cNvPr>
          <p:cNvSpPr txBox="1"/>
          <p:nvPr/>
        </p:nvSpPr>
        <p:spPr>
          <a:xfrm>
            <a:off x="2012411" y="1684233"/>
            <a:ext cx="3207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284C7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Hardware Selection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2" name="Google Shape;172;p17" descr="image.png">
            <a:extLst>
              <a:ext uri="{FF2B5EF4-FFF2-40B4-BE49-F238E27FC236}">
                <a16:creationId xmlns:a16="http://schemas.microsoft.com/office/drawing/2014/main" id="{863AD06A-B515-D854-C8DF-0CFD7AF19D5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60138" y="168721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>
            <a:extLst>
              <a:ext uri="{FF2B5EF4-FFF2-40B4-BE49-F238E27FC236}">
                <a16:creationId xmlns:a16="http://schemas.microsoft.com/office/drawing/2014/main" id="{15875BA0-BA3D-8431-EB5B-E726160009E8}"/>
              </a:ext>
            </a:extLst>
          </p:cNvPr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1E3A8A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System Architecture &amp; Specs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5" name="Google Shape;175;p17" title="MBF_Logo_2020.png">
            <a:extLst>
              <a:ext uri="{FF2B5EF4-FFF2-40B4-BE49-F238E27FC236}">
                <a16:creationId xmlns:a16="http://schemas.microsoft.com/office/drawing/2014/main" id="{B0349917-14EF-AFD2-C61B-ABC09EBFE6FA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7" title="VK colored transparent logo.png">
            <a:extLst>
              <a:ext uri="{FF2B5EF4-FFF2-40B4-BE49-F238E27FC236}">
                <a16:creationId xmlns:a16="http://schemas.microsoft.com/office/drawing/2014/main" id="{8BDE2EC7-312D-D689-91ED-9CC4CC07C12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419BA06-B647-A522-40B2-D45F833D5B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1029988"/>
              </p:ext>
            </p:extLst>
          </p:nvPr>
        </p:nvGraphicFramePr>
        <p:xfrm>
          <a:off x="1671981" y="2249572"/>
          <a:ext cx="9783095" cy="40312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13702">
                  <a:extLst>
                    <a:ext uri="{9D8B030D-6E8A-4147-A177-3AD203B41FA5}">
                      <a16:colId xmlns:a16="http://schemas.microsoft.com/office/drawing/2014/main" val="3333408694"/>
                    </a:ext>
                  </a:extLst>
                </a:gridCol>
                <a:gridCol w="7069393">
                  <a:extLst>
                    <a:ext uri="{9D8B030D-6E8A-4147-A177-3AD203B41FA5}">
                      <a16:colId xmlns:a16="http://schemas.microsoft.com/office/drawing/2014/main" val="1717045409"/>
                    </a:ext>
                  </a:extLst>
                </a:gridCol>
              </a:tblGrid>
              <a:tr h="387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Microcontroller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ESP32 — temperature monitoring and cooling control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6611692"/>
                  </a:ext>
                </a:extLst>
              </a:tr>
              <a:tr h="387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Cooling unit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Peltier module — transfers heat away from the chamber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8795051"/>
                  </a:ext>
                </a:extLst>
              </a:tr>
              <a:tr h="387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Temperature sensor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DS18B20 — measures chamber temperature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3308255"/>
                  </a:ext>
                </a:extLst>
              </a:tr>
              <a:tr h="387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Heat dissipation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Heatsink + DC fan — removes heat from the Peltier hot side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6249728"/>
                  </a:ext>
                </a:extLst>
              </a:tr>
              <a:tr h="658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Power supply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Rechargeable battery pack + BMS — portable power and battery protection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7870827"/>
                  </a:ext>
                </a:extLst>
              </a:tr>
              <a:tr h="387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Charging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USB-C charging circuit — battery charging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6313591"/>
                  </a:ext>
                </a:extLst>
              </a:tr>
              <a:tr h="387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Cooling control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MOSFET-based driver — switches the Peltier module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2082034"/>
                  </a:ext>
                </a:extLst>
              </a:tr>
              <a:tr h="387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User interface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OLED display + power button and dedicated app — temperature and device status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432766"/>
                  </a:ext>
                </a:extLst>
              </a:tr>
              <a:tr h="6589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Enclosure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3D-printed outer shell + insulation + inner liner — structure and thermal isolation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1976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3219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2925" y="6064851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4346" y="227369"/>
            <a:ext cx="5751511" cy="5229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2842" y="1794420"/>
            <a:ext cx="5429250" cy="242887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8"/>
          <p:cNvSpPr txBox="1"/>
          <p:nvPr/>
        </p:nvSpPr>
        <p:spPr>
          <a:xfrm>
            <a:off x="259198" y="206463"/>
            <a:ext cx="3801525" cy="373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5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System Architecture &amp; Specs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723900" y="6176147"/>
            <a:ext cx="9515400" cy="209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Architecture Rationale:</a:t>
            </a:r>
            <a:r>
              <a:rPr lang="en-US" sz="937" b="0" i="0" u="none" strike="noStrike" cap="none" dirty="0">
                <a:solidFill>
                  <a:srgbClr val="475569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CAN-bus protocol was chosen over I2C/UART to eliminate high-frequency EMI noise generated by dual rotary tine motors under heavy torque loads.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492842" y="4411001"/>
            <a:ext cx="5429250" cy="132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2" b="0" i="1" u="none" strike="noStrike" cap="none" dirty="0">
                <a:solidFill>
                  <a:srgbClr val="64748B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Figure: </a:t>
            </a:r>
            <a:r>
              <a:rPr lang="en-US" sz="862" b="0" i="1" u="none" strike="noStrike" cap="none" dirty="0" err="1">
                <a:solidFill>
                  <a:srgbClr val="64748B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MediCool</a:t>
            </a:r>
            <a:r>
              <a:rPr lang="en-US" sz="862" b="0" i="1" u="none" strike="noStrike" cap="none" dirty="0">
                <a:solidFill>
                  <a:srgbClr val="64748B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,portable thermoelectric insulin storage system (concept image) 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2" name="Google Shape;19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48425" y="438150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8"/>
          <p:cNvSpPr txBox="1"/>
          <p:nvPr/>
        </p:nvSpPr>
        <p:spPr>
          <a:xfrm>
            <a:off x="6732165" y="415474"/>
            <a:ext cx="4447111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Engineering Target Specifications &amp; Subsystems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6448425" y="1775370"/>
            <a:ext cx="1276498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7724923" y="1775370"/>
            <a:ext cx="1176783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8901707" y="1775370"/>
            <a:ext cx="2537817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6448425" y="2237333"/>
            <a:ext cx="1276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7724923" y="2237333"/>
            <a:ext cx="1176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8901707" y="2237333"/>
            <a:ext cx="253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6448425" y="2685008"/>
            <a:ext cx="1276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7724923" y="2685008"/>
            <a:ext cx="1176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8901707" y="2685008"/>
            <a:ext cx="253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6448425" y="3132683"/>
            <a:ext cx="1276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7724923" y="3132683"/>
            <a:ext cx="1176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8901707" y="3132683"/>
            <a:ext cx="253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6448425" y="3580358"/>
            <a:ext cx="1276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7724923" y="3580358"/>
            <a:ext cx="1176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8901707" y="3580358"/>
            <a:ext cx="253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6448425" y="4028033"/>
            <a:ext cx="12764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7724923" y="4028033"/>
            <a:ext cx="11767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8901707" y="4028033"/>
            <a:ext cx="25378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212" name="Google Shape;212;p18" title="MBF_Logo_2020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18" title="VK colored transparent logo.png"/>
          <p:cNvPicPr preferRelativeResize="0"/>
          <p:nvPr/>
        </p:nvPicPr>
        <p:blipFill rotWithShape="1">
          <a:blip r:embed="rId9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A1E28A0-7DD6-14BC-6961-69C4773EA4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439242"/>
              </p:ext>
            </p:extLst>
          </p:nvPr>
        </p:nvGraphicFramePr>
        <p:xfrm>
          <a:off x="6245379" y="671815"/>
          <a:ext cx="5751512" cy="4785088"/>
        </p:xfrm>
        <a:graphic>
          <a:graphicData uri="http://schemas.openxmlformats.org/drawingml/2006/table">
            <a:tbl>
              <a:tblPr>
                <a:tableStyleId>{8A3A8202-E484-496F-BAE3-F73CC9AC0619}</a:tableStyleId>
              </a:tblPr>
              <a:tblGrid>
                <a:gridCol w="1509907">
                  <a:extLst>
                    <a:ext uri="{9D8B030D-6E8A-4147-A177-3AD203B41FA5}">
                      <a16:colId xmlns:a16="http://schemas.microsoft.com/office/drawing/2014/main" val="397316921"/>
                    </a:ext>
                  </a:extLst>
                </a:gridCol>
                <a:gridCol w="1379162">
                  <a:extLst>
                    <a:ext uri="{9D8B030D-6E8A-4147-A177-3AD203B41FA5}">
                      <a16:colId xmlns:a16="http://schemas.microsoft.com/office/drawing/2014/main" val="3757105563"/>
                    </a:ext>
                  </a:extLst>
                </a:gridCol>
                <a:gridCol w="2862443">
                  <a:extLst>
                    <a:ext uri="{9D8B030D-6E8A-4147-A177-3AD203B41FA5}">
                      <a16:colId xmlns:a16="http://schemas.microsoft.com/office/drawing/2014/main" val="2538744110"/>
                    </a:ext>
                  </a:extLst>
                </a:gridCol>
              </a:tblGrid>
              <a:tr h="5513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IN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 Specification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 Hardware / Protocol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5058669"/>
                  </a:ext>
                </a:extLst>
              </a:tr>
              <a:tr h="796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 capacity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1–2 insulin pens / equivalent vials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Insulated chamber with removable tray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2923408"/>
                  </a:ext>
                </a:extLst>
              </a:tr>
              <a:tr h="10053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Temperature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 2–8°C, subject to insulin requirements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DS18B20 sensor + ESP32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0086714"/>
                  </a:ext>
                </a:extLst>
              </a:tr>
              <a:tr h="5513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Cooling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Automatic cooling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Peltier module + MOSFET driver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0770364"/>
                  </a:ext>
                </a:extLst>
              </a:tr>
              <a:tr h="3242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Battery backup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 4 hours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Rechargeable battery + BMS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5904613"/>
                  </a:ext>
                </a:extLst>
              </a:tr>
              <a:tr h="778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Heat dissipation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 hot-side heat removal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Heatsink + DC fan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0298667"/>
                  </a:ext>
                </a:extLst>
              </a:tr>
              <a:tr h="778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temperature display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OLED display + ESP32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942539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FCDB75A-468A-B050-39A7-E892C9A10691}"/>
              </a:ext>
            </a:extLst>
          </p:cNvPr>
          <p:cNvSpPr txBox="1"/>
          <p:nvPr/>
        </p:nvSpPr>
        <p:spPr>
          <a:xfrm>
            <a:off x="6214346" y="5421764"/>
            <a:ext cx="6390966" cy="262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2" b="0" i="1" u="none" strike="noStrike" cap="none" dirty="0">
                <a:solidFill>
                  <a:srgbClr val="64748B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Specifications are preliminary design targets and require prototype validation.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0EE8DD-FBB4-7BA2-CD0E-2E53AD45B91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8622" r="30866" b="58369"/>
          <a:stretch>
            <a:fillRect/>
          </a:stretch>
        </p:blipFill>
        <p:spPr>
          <a:xfrm>
            <a:off x="1072408" y="2015655"/>
            <a:ext cx="1988821" cy="18677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4BFFAF-262C-AFEE-C966-CD20647FE78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6340" t="42625" r="24160" b="4474"/>
          <a:stretch>
            <a:fillRect/>
          </a:stretch>
        </p:blipFill>
        <p:spPr>
          <a:xfrm>
            <a:off x="3728655" y="2015654"/>
            <a:ext cx="1526011" cy="18677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9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5551726"/>
            <a:ext cx="11372940" cy="473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00404" y="999629"/>
            <a:ext cx="4305936" cy="3145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6400" y="956220"/>
            <a:ext cx="7030720" cy="3833132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0"/>
          <p:cNvSpPr txBox="1"/>
          <p:nvPr/>
        </p:nvSpPr>
        <p:spPr>
          <a:xfrm>
            <a:off x="723900" y="5646976"/>
            <a:ext cx="8620200" cy="28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 dirty="0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Design Iteration:</a:t>
            </a:r>
            <a:r>
              <a:rPr lang="en-US" sz="937" b="0" i="0" u="none" strike="noStrike" cap="none" dirty="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The modular layout separates the medicine chamber, cooling assembly and electronics to support compact packaging, heat dissipation and easier maintenance.</a:t>
            </a:r>
            <a:endParaRPr dirty="0"/>
          </a:p>
        </p:txBody>
      </p:sp>
      <p:sp>
        <p:nvSpPr>
          <p:cNvPr id="241" name="Google Shape;241;p20"/>
          <p:cNvSpPr txBox="1"/>
          <p:nvPr/>
        </p:nvSpPr>
        <p:spPr>
          <a:xfrm>
            <a:off x="1025679" y="4884602"/>
            <a:ext cx="5429250" cy="265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2" b="0" i="1" u="none" strike="noStrike" cap="none" dirty="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Figure: Current preliminary 3D model of </a:t>
            </a:r>
            <a:r>
              <a:rPr lang="en-US" sz="862" b="0" i="1" u="none" strike="noStrike" cap="none" dirty="0" err="1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MediCool</a:t>
            </a:r>
            <a:r>
              <a:rPr lang="en-US" sz="862" b="0" i="1" u="none" strike="noStrike" cap="none" dirty="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. The design is subject to further refinement and modification.</a:t>
            </a:r>
            <a:endParaRPr dirty="0"/>
          </a:p>
        </p:txBody>
      </p:sp>
      <p:sp>
        <p:nvSpPr>
          <p:cNvPr id="250" name="Google Shape;250;p20"/>
          <p:cNvSpPr txBox="1"/>
          <p:nvPr/>
        </p:nvSpPr>
        <p:spPr>
          <a:xfrm>
            <a:off x="6467475" y="1451520"/>
            <a:ext cx="57150" cy="312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2" name="Google Shape;252;p20"/>
          <p:cNvSpPr txBox="1"/>
          <p:nvPr/>
        </p:nvSpPr>
        <p:spPr>
          <a:xfrm>
            <a:off x="6467475" y="2368301"/>
            <a:ext cx="57150" cy="312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4" name="Google Shape;254;p20"/>
          <p:cNvSpPr txBox="1"/>
          <p:nvPr/>
        </p:nvSpPr>
        <p:spPr>
          <a:xfrm>
            <a:off x="6467475" y="3285083"/>
            <a:ext cx="57150" cy="3123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55" name="Google Shape;255;p20" title="MBF_Logo_202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0" title="VK colored transparent logo.png"/>
          <p:cNvPicPr preferRelativeResize="0"/>
          <p:nvPr/>
        </p:nvPicPr>
        <p:blipFill rotWithShape="1">
          <a:blip r:embed="rId8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26;p19">
            <a:extLst>
              <a:ext uri="{FF2B5EF4-FFF2-40B4-BE49-F238E27FC236}">
                <a16:creationId xmlns:a16="http://schemas.microsoft.com/office/drawing/2014/main" id="{938B0C9C-4177-8E88-3F6A-FA973A399E20}"/>
              </a:ext>
            </a:extLst>
          </p:cNvPr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1E3A8A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CAD Design &amp; Mechanical Specs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4FEB9A-569A-523C-9F4B-051DABFB6D1C}"/>
              </a:ext>
            </a:extLst>
          </p:cNvPr>
          <p:cNvSpPr txBox="1"/>
          <p:nvPr/>
        </p:nvSpPr>
        <p:spPr>
          <a:xfrm>
            <a:off x="7932420" y="1171953"/>
            <a:ext cx="368808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 Design &amp; Specs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Enclosure: Compact cuboid structure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Material: PETG casing proposed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Insulated chamber with removable tray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Cooling: Side-mounted Peltier assembly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Airflow: Separate intake and exhaust vents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Electronics: Dedicated lower compartment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8DA8E9-E3CF-E8B8-A2A1-1C666BB01D4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" y="1242290"/>
            <a:ext cx="3168804" cy="31688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C8F0E7-CB30-1E05-2248-3548AECBD61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21760" y="1242289"/>
            <a:ext cx="3037840" cy="316289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>
          <a:extLst>
            <a:ext uri="{FF2B5EF4-FFF2-40B4-BE49-F238E27FC236}">
              <a16:creationId xmlns:a16="http://schemas.microsoft.com/office/drawing/2014/main" id="{E7956783-40C2-300F-28D2-1D451CABD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22" descr="image.png">
            <a:extLst>
              <a:ext uri="{FF2B5EF4-FFF2-40B4-BE49-F238E27FC236}">
                <a16:creationId xmlns:a16="http://schemas.microsoft.com/office/drawing/2014/main" id="{E9206AB1-A224-5F5C-368F-C5C65C4B203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2">
            <a:extLst>
              <a:ext uri="{FF2B5EF4-FFF2-40B4-BE49-F238E27FC236}">
                <a16:creationId xmlns:a16="http://schemas.microsoft.com/office/drawing/2014/main" id="{6EFEC6F6-3DAF-7993-7C6C-5D59E587829F}"/>
              </a:ext>
            </a:extLst>
          </p:cNvPr>
          <p:cNvSpPr txBox="1"/>
          <p:nvPr/>
        </p:nvSpPr>
        <p:spPr>
          <a:xfrm>
            <a:off x="1702664" y="5627767"/>
            <a:ext cx="9736860" cy="2231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5011"/>
              </a:lnSpc>
            </a:pPr>
            <a:r>
              <a:rPr lang="en-US" sz="1000" b="0" i="1" u="none" strike="noStrike" cap="none" dirty="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Figure:  Electronics Schematics </a:t>
            </a:r>
            <a:endParaRPr sz="1800" dirty="0"/>
          </a:p>
        </p:txBody>
      </p:sp>
      <p:sp>
        <p:nvSpPr>
          <p:cNvPr id="289" name="Google Shape;289;p22">
            <a:extLst>
              <a:ext uri="{FF2B5EF4-FFF2-40B4-BE49-F238E27FC236}">
                <a16:creationId xmlns:a16="http://schemas.microsoft.com/office/drawing/2014/main" id="{38A913C2-6759-023E-1A7A-5BF4F6C4D814}"/>
              </a:ext>
            </a:extLst>
          </p:cNvPr>
          <p:cNvSpPr/>
          <p:nvPr/>
        </p:nvSpPr>
        <p:spPr>
          <a:xfrm>
            <a:off x="6448425" y="1927770"/>
            <a:ext cx="1137493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>
            <a:extLst>
              <a:ext uri="{FF2B5EF4-FFF2-40B4-BE49-F238E27FC236}">
                <a16:creationId xmlns:a16="http://schemas.microsoft.com/office/drawing/2014/main" id="{776004C0-98A9-0C73-48A1-FADF052CE6B8}"/>
              </a:ext>
            </a:extLst>
          </p:cNvPr>
          <p:cNvSpPr/>
          <p:nvPr/>
        </p:nvSpPr>
        <p:spPr>
          <a:xfrm>
            <a:off x="7585918" y="1927770"/>
            <a:ext cx="1637407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2">
            <a:extLst>
              <a:ext uri="{FF2B5EF4-FFF2-40B4-BE49-F238E27FC236}">
                <a16:creationId xmlns:a16="http://schemas.microsoft.com/office/drawing/2014/main" id="{9B1C1D1E-64B2-0D15-85D6-9688174504DF}"/>
              </a:ext>
            </a:extLst>
          </p:cNvPr>
          <p:cNvSpPr/>
          <p:nvPr/>
        </p:nvSpPr>
        <p:spPr>
          <a:xfrm>
            <a:off x="9223325" y="1927770"/>
            <a:ext cx="447675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2">
            <a:extLst>
              <a:ext uri="{FF2B5EF4-FFF2-40B4-BE49-F238E27FC236}">
                <a16:creationId xmlns:a16="http://schemas.microsoft.com/office/drawing/2014/main" id="{253D1E59-0FB7-0A0E-69FA-F0D07C87AF8F}"/>
              </a:ext>
            </a:extLst>
          </p:cNvPr>
          <p:cNvSpPr/>
          <p:nvPr/>
        </p:nvSpPr>
        <p:spPr>
          <a:xfrm>
            <a:off x="9671000" y="1927770"/>
            <a:ext cx="1005036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2">
            <a:extLst>
              <a:ext uri="{FF2B5EF4-FFF2-40B4-BE49-F238E27FC236}">
                <a16:creationId xmlns:a16="http://schemas.microsoft.com/office/drawing/2014/main" id="{0145C059-CBA7-8241-96B5-9A62E292CD80}"/>
              </a:ext>
            </a:extLst>
          </p:cNvPr>
          <p:cNvSpPr/>
          <p:nvPr/>
        </p:nvSpPr>
        <p:spPr>
          <a:xfrm>
            <a:off x="10676036" y="1927770"/>
            <a:ext cx="763488" cy="1905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2">
            <a:extLst>
              <a:ext uri="{FF2B5EF4-FFF2-40B4-BE49-F238E27FC236}">
                <a16:creationId xmlns:a16="http://schemas.microsoft.com/office/drawing/2014/main" id="{18BD301C-473B-05D7-80B8-AC84C95DAC7C}"/>
              </a:ext>
            </a:extLst>
          </p:cNvPr>
          <p:cNvSpPr/>
          <p:nvPr/>
        </p:nvSpPr>
        <p:spPr>
          <a:xfrm>
            <a:off x="6448425" y="2389733"/>
            <a:ext cx="1137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2">
            <a:extLst>
              <a:ext uri="{FF2B5EF4-FFF2-40B4-BE49-F238E27FC236}">
                <a16:creationId xmlns:a16="http://schemas.microsoft.com/office/drawing/2014/main" id="{08F59C97-A73B-AAAC-4950-CAF1D9354749}"/>
              </a:ext>
            </a:extLst>
          </p:cNvPr>
          <p:cNvSpPr/>
          <p:nvPr/>
        </p:nvSpPr>
        <p:spPr>
          <a:xfrm>
            <a:off x="7585918" y="2389733"/>
            <a:ext cx="1637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2">
            <a:extLst>
              <a:ext uri="{FF2B5EF4-FFF2-40B4-BE49-F238E27FC236}">
                <a16:creationId xmlns:a16="http://schemas.microsoft.com/office/drawing/2014/main" id="{EA48BDC9-B2AE-9CCD-BC73-55B79C8657DA}"/>
              </a:ext>
            </a:extLst>
          </p:cNvPr>
          <p:cNvSpPr/>
          <p:nvPr/>
        </p:nvSpPr>
        <p:spPr>
          <a:xfrm>
            <a:off x="9223325" y="2389733"/>
            <a:ext cx="447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2">
            <a:extLst>
              <a:ext uri="{FF2B5EF4-FFF2-40B4-BE49-F238E27FC236}">
                <a16:creationId xmlns:a16="http://schemas.microsoft.com/office/drawing/2014/main" id="{6D9EE175-3D4C-51D7-D4CC-17C778E63500}"/>
              </a:ext>
            </a:extLst>
          </p:cNvPr>
          <p:cNvSpPr/>
          <p:nvPr/>
        </p:nvSpPr>
        <p:spPr>
          <a:xfrm>
            <a:off x="9671000" y="2389733"/>
            <a:ext cx="1005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2">
            <a:extLst>
              <a:ext uri="{FF2B5EF4-FFF2-40B4-BE49-F238E27FC236}">
                <a16:creationId xmlns:a16="http://schemas.microsoft.com/office/drawing/2014/main" id="{F6E97E76-18FD-3611-E3B8-76DD3F85E84B}"/>
              </a:ext>
            </a:extLst>
          </p:cNvPr>
          <p:cNvSpPr/>
          <p:nvPr/>
        </p:nvSpPr>
        <p:spPr>
          <a:xfrm>
            <a:off x="10676036" y="2389733"/>
            <a:ext cx="76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2">
            <a:extLst>
              <a:ext uri="{FF2B5EF4-FFF2-40B4-BE49-F238E27FC236}">
                <a16:creationId xmlns:a16="http://schemas.microsoft.com/office/drawing/2014/main" id="{D3020FAC-C20E-D494-479D-A6A26096B1D5}"/>
              </a:ext>
            </a:extLst>
          </p:cNvPr>
          <p:cNvSpPr/>
          <p:nvPr/>
        </p:nvSpPr>
        <p:spPr>
          <a:xfrm>
            <a:off x="6448425" y="2837408"/>
            <a:ext cx="1137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2">
            <a:extLst>
              <a:ext uri="{FF2B5EF4-FFF2-40B4-BE49-F238E27FC236}">
                <a16:creationId xmlns:a16="http://schemas.microsoft.com/office/drawing/2014/main" id="{F6E8DCB9-8DDF-758D-590F-C28FE99ECA7C}"/>
              </a:ext>
            </a:extLst>
          </p:cNvPr>
          <p:cNvSpPr/>
          <p:nvPr/>
        </p:nvSpPr>
        <p:spPr>
          <a:xfrm>
            <a:off x="7585918" y="2837408"/>
            <a:ext cx="1637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2">
            <a:extLst>
              <a:ext uri="{FF2B5EF4-FFF2-40B4-BE49-F238E27FC236}">
                <a16:creationId xmlns:a16="http://schemas.microsoft.com/office/drawing/2014/main" id="{F4595F28-DC3A-B94A-05A1-CD80FB18F405}"/>
              </a:ext>
            </a:extLst>
          </p:cNvPr>
          <p:cNvSpPr/>
          <p:nvPr/>
        </p:nvSpPr>
        <p:spPr>
          <a:xfrm>
            <a:off x="9223325" y="2837408"/>
            <a:ext cx="447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2">
            <a:extLst>
              <a:ext uri="{FF2B5EF4-FFF2-40B4-BE49-F238E27FC236}">
                <a16:creationId xmlns:a16="http://schemas.microsoft.com/office/drawing/2014/main" id="{C9DA80CB-A420-005C-DCE9-97CBA378A5F0}"/>
              </a:ext>
            </a:extLst>
          </p:cNvPr>
          <p:cNvSpPr/>
          <p:nvPr/>
        </p:nvSpPr>
        <p:spPr>
          <a:xfrm>
            <a:off x="9671000" y="2837408"/>
            <a:ext cx="1005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2">
            <a:extLst>
              <a:ext uri="{FF2B5EF4-FFF2-40B4-BE49-F238E27FC236}">
                <a16:creationId xmlns:a16="http://schemas.microsoft.com/office/drawing/2014/main" id="{24F3607C-4712-FE23-67C4-0E9BFF91C3AF}"/>
              </a:ext>
            </a:extLst>
          </p:cNvPr>
          <p:cNvSpPr/>
          <p:nvPr/>
        </p:nvSpPr>
        <p:spPr>
          <a:xfrm>
            <a:off x="10676036" y="2837408"/>
            <a:ext cx="76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2">
            <a:extLst>
              <a:ext uri="{FF2B5EF4-FFF2-40B4-BE49-F238E27FC236}">
                <a16:creationId xmlns:a16="http://schemas.microsoft.com/office/drawing/2014/main" id="{68483EF4-D46A-445A-F170-5BA58C4FCE18}"/>
              </a:ext>
            </a:extLst>
          </p:cNvPr>
          <p:cNvSpPr/>
          <p:nvPr/>
        </p:nvSpPr>
        <p:spPr>
          <a:xfrm>
            <a:off x="6448425" y="3285083"/>
            <a:ext cx="1137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2">
            <a:extLst>
              <a:ext uri="{FF2B5EF4-FFF2-40B4-BE49-F238E27FC236}">
                <a16:creationId xmlns:a16="http://schemas.microsoft.com/office/drawing/2014/main" id="{DDEF2B5F-914B-D644-E794-24F82FF62ABA}"/>
              </a:ext>
            </a:extLst>
          </p:cNvPr>
          <p:cNvSpPr/>
          <p:nvPr/>
        </p:nvSpPr>
        <p:spPr>
          <a:xfrm>
            <a:off x="7585918" y="3285083"/>
            <a:ext cx="1637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2">
            <a:extLst>
              <a:ext uri="{FF2B5EF4-FFF2-40B4-BE49-F238E27FC236}">
                <a16:creationId xmlns:a16="http://schemas.microsoft.com/office/drawing/2014/main" id="{DCAC34C9-D77C-6EA7-6654-8697CB5CDE47}"/>
              </a:ext>
            </a:extLst>
          </p:cNvPr>
          <p:cNvSpPr/>
          <p:nvPr/>
        </p:nvSpPr>
        <p:spPr>
          <a:xfrm>
            <a:off x="9223325" y="3285083"/>
            <a:ext cx="447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2">
            <a:extLst>
              <a:ext uri="{FF2B5EF4-FFF2-40B4-BE49-F238E27FC236}">
                <a16:creationId xmlns:a16="http://schemas.microsoft.com/office/drawing/2014/main" id="{57CF3E0A-D0BA-0608-4DC6-7EE66453388D}"/>
              </a:ext>
            </a:extLst>
          </p:cNvPr>
          <p:cNvSpPr/>
          <p:nvPr/>
        </p:nvSpPr>
        <p:spPr>
          <a:xfrm>
            <a:off x="9671000" y="3285083"/>
            <a:ext cx="1005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2">
            <a:extLst>
              <a:ext uri="{FF2B5EF4-FFF2-40B4-BE49-F238E27FC236}">
                <a16:creationId xmlns:a16="http://schemas.microsoft.com/office/drawing/2014/main" id="{E9551C1C-17AE-2A44-2790-CF0B21FC5D8E}"/>
              </a:ext>
            </a:extLst>
          </p:cNvPr>
          <p:cNvSpPr/>
          <p:nvPr/>
        </p:nvSpPr>
        <p:spPr>
          <a:xfrm>
            <a:off x="10676036" y="3285083"/>
            <a:ext cx="76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2">
            <a:extLst>
              <a:ext uri="{FF2B5EF4-FFF2-40B4-BE49-F238E27FC236}">
                <a16:creationId xmlns:a16="http://schemas.microsoft.com/office/drawing/2014/main" id="{CC05A27A-28E0-ADF1-766A-F6F3131072AB}"/>
              </a:ext>
            </a:extLst>
          </p:cNvPr>
          <p:cNvSpPr/>
          <p:nvPr/>
        </p:nvSpPr>
        <p:spPr>
          <a:xfrm>
            <a:off x="6448425" y="3732758"/>
            <a:ext cx="1137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2">
            <a:extLst>
              <a:ext uri="{FF2B5EF4-FFF2-40B4-BE49-F238E27FC236}">
                <a16:creationId xmlns:a16="http://schemas.microsoft.com/office/drawing/2014/main" id="{A1B8DF03-EE92-8C5F-0D76-42AFFB1D6EB1}"/>
              </a:ext>
            </a:extLst>
          </p:cNvPr>
          <p:cNvSpPr/>
          <p:nvPr/>
        </p:nvSpPr>
        <p:spPr>
          <a:xfrm>
            <a:off x="7585918" y="3732758"/>
            <a:ext cx="1637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2">
            <a:extLst>
              <a:ext uri="{FF2B5EF4-FFF2-40B4-BE49-F238E27FC236}">
                <a16:creationId xmlns:a16="http://schemas.microsoft.com/office/drawing/2014/main" id="{1F5CC017-F64B-BE83-704D-E4DBB21DE98B}"/>
              </a:ext>
            </a:extLst>
          </p:cNvPr>
          <p:cNvSpPr/>
          <p:nvPr/>
        </p:nvSpPr>
        <p:spPr>
          <a:xfrm>
            <a:off x="9223325" y="3732758"/>
            <a:ext cx="447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2">
            <a:extLst>
              <a:ext uri="{FF2B5EF4-FFF2-40B4-BE49-F238E27FC236}">
                <a16:creationId xmlns:a16="http://schemas.microsoft.com/office/drawing/2014/main" id="{CFDE6274-4B6E-5EFE-ABA2-1447E0F2F64B}"/>
              </a:ext>
            </a:extLst>
          </p:cNvPr>
          <p:cNvSpPr/>
          <p:nvPr/>
        </p:nvSpPr>
        <p:spPr>
          <a:xfrm>
            <a:off x="9671000" y="3732758"/>
            <a:ext cx="1005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2">
            <a:extLst>
              <a:ext uri="{FF2B5EF4-FFF2-40B4-BE49-F238E27FC236}">
                <a16:creationId xmlns:a16="http://schemas.microsoft.com/office/drawing/2014/main" id="{A750B26E-394F-DD85-5632-C49E12692E43}"/>
              </a:ext>
            </a:extLst>
          </p:cNvPr>
          <p:cNvSpPr/>
          <p:nvPr/>
        </p:nvSpPr>
        <p:spPr>
          <a:xfrm>
            <a:off x="10676036" y="3732758"/>
            <a:ext cx="76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2">
            <a:extLst>
              <a:ext uri="{FF2B5EF4-FFF2-40B4-BE49-F238E27FC236}">
                <a16:creationId xmlns:a16="http://schemas.microsoft.com/office/drawing/2014/main" id="{3FAA4630-B2A7-3F99-D62A-0274C14C8148}"/>
              </a:ext>
            </a:extLst>
          </p:cNvPr>
          <p:cNvSpPr/>
          <p:nvPr/>
        </p:nvSpPr>
        <p:spPr>
          <a:xfrm>
            <a:off x="6448425" y="4180433"/>
            <a:ext cx="1137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2">
            <a:extLst>
              <a:ext uri="{FF2B5EF4-FFF2-40B4-BE49-F238E27FC236}">
                <a16:creationId xmlns:a16="http://schemas.microsoft.com/office/drawing/2014/main" id="{66EFD253-C8A8-F48E-2366-6D6E681AB464}"/>
              </a:ext>
            </a:extLst>
          </p:cNvPr>
          <p:cNvSpPr/>
          <p:nvPr/>
        </p:nvSpPr>
        <p:spPr>
          <a:xfrm>
            <a:off x="7585918" y="4180433"/>
            <a:ext cx="1637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2">
            <a:extLst>
              <a:ext uri="{FF2B5EF4-FFF2-40B4-BE49-F238E27FC236}">
                <a16:creationId xmlns:a16="http://schemas.microsoft.com/office/drawing/2014/main" id="{0374F800-AE9E-659A-CB60-6969B9925B5F}"/>
              </a:ext>
            </a:extLst>
          </p:cNvPr>
          <p:cNvSpPr/>
          <p:nvPr/>
        </p:nvSpPr>
        <p:spPr>
          <a:xfrm>
            <a:off x="9223325" y="4180433"/>
            <a:ext cx="447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2">
            <a:extLst>
              <a:ext uri="{FF2B5EF4-FFF2-40B4-BE49-F238E27FC236}">
                <a16:creationId xmlns:a16="http://schemas.microsoft.com/office/drawing/2014/main" id="{C7940DE6-3D1C-9031-7117-F178E5CE4A8E}"/>
              </a:ext>
            </a:extLst>
          </p:cNvPr>
          <p:cNvSpPr/>
          <p:nvPr/>
        </p:nvSpPr>
        <p:spPr>
          <a:xfrm>
            <a:off x="9671000" y="4180433"/>
            <a:ext cx="1005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2">
            <a:extLst>
              <a:ext uri="{FF2B5EF4-FFF2-40B4-BE49-F238E27FC236}">
                <a16:creationId xmlns:a16="http://schemas.microsoft.com/office/drawing/2014/main" id="{39B03806-AB82-AAB2-A183-B4A3468EF184}"/>
              </a:ext>
            </a:extLst>
          </p:cNvPr>
          <p:cNvSpPr/>
          <p:nvPr/>
        </p:nvSpPr>
        <p:spPr>
          <a:xfrm>
            <a:off x="10676036" y="4180433"/>
            <a:ext cx="76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2">
            <a:extLst>
              <a:ext uri="{FF2B5EF4-FFF2-40B4-BE49-F238E27FC236}">
                <a16:creationId xmlns:a16="http://schemas.microsoft.com/office/drawing/2014/main" id="{BF37D08F-5A29-EED0-B151-E3B8EE03362E}"/>
              </a:ext>
            </a:extLst>
          </p:cNvPr>
          <p:cNvSpPr/>
          <p:nvPr/>
        </p:nvSpPr>
        <p:spPr>
          <a:xfrm>
            <a:off x="6448425" y="4628108"/>
            <a:ext cx="11374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2">
            <a:extLst>
              <a:ext uri="{FF2B5EF4-FFF2-40B4-BE49-F238E27FC236}">
                <a16:creationId xmlns:a16="http://schemas.microsoft.com/office/drawing/2014/main" id="{953A850A-9BEF-F9C5-589F-D6707D656110}"/>
              </a:ext>
            </a:extLst>
          </p:cNvPr>
          <p:cNvSpPr/>
          <p:nvPr/>
        </p:nvSpPr>
        <p:spPr>
          <a:xfrm>
            <a:off x="7585918" y="4628108"/>
            <a:ext cx="163740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2">
            <a:extLst>
              <a:ext uri="{FF2B5EF4-FFF2-40B4-BE49-F238E27FC236}">
                <a16:creationId xmlns:a16="http://schemas.microsoft.com/office/drawing/2014/main" id="{09CEE38A-5A99-C1F0-33E1-A439A32ACCD0}"/>
              </a:ext>
            </a:extLst>
          </p:cNvPr>
          <p:cNvSpPr/>
          <p:nvPr/>
        </p:nvSpPr>
        <p:spPr>
          <a:xfrm>
            <a:off x="9223325" y="4628108"/>
            <a:ext cx="447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2">
            <a:extLst>
              <a:ext uri="{FF2B5EF4-FFF2-40B4-BE49-F238E27FC236}">
                <a16:creationId xmlns:a16="http://schemas.microsoft.com/office/drawing/2014/main" id="{9E122A50-A072-B336-7CC0-D33BFDE652F8}"/>
              </a:ext>
            </a:extLst>
          </p:cNvPr>
          <p:cNvSpPr/>
          <p:nvPr/>
        </p:nvSpPr>
        <p:spPr>
          <a:xfrm>
            <a:off x="9671000" y="4628108"/>
            <a:ext cx="100503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2">
            <a:extLst>
              <a:ext uri="{FF2B5EF4-FFF2-40B4-BE49-F238E27FC236}">
                <a16:creationId xmlns:a16="http://schemas.microsoft.com/office/drawing/2014/main" id="{C5F17F5C-6995-3EE9-A7B8-DB36CA9FE271}"/>
              </a:ext>
            </a:extLst>
          </p:cNvPr>
          <p:cNvSpPr/>
          <p:nvPr/>
        </p:nvSpPr>
        <p:spPr>
          <a:xfrm>
            <a:off x="10676036" y="4628108"/>
            <a:ext cx="76348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p22" title="MBF_Logo_2020.png">
            <a:extLst>
              <a:ext uri="{FF2B5EF4-FFF2-40B4-BE49-F238E27FC236}">
                <a16:creationId xmlns:a16="http://schemas.microsoft.com/office/drawing/2014/main" id="{34CE80CC-7F7E-3E6C-1D68-1BCFBF0B34A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2" title="VK colored transparent logo.png">
            <a:extLst>
              <a:ext uri="{FF2B5EF4-FFF2-40B4-BE49-F238E27FC236}">
                <a16:creationId xmlns:a16="http://schemas.microsoft.com/office/drawing/2014/main" id="{B026BBA1-6592-9D9E-DFD2-5432D1BD988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F81EBA4-5067-044E-AECD-F383A89A13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2664" y="1262580"/>
            <a:ext cx="9736860" cy="43328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B4B6D1-D889-BDD2-4BA1-7095BFB16CD1}"/>
              </a:ext>
            </a:extLst>
          </p:cNvPr>
          <p:cNvSpPr txBox="1"/>
          <p:nvPr/>
        </p:nvSpPr>
        <p:spPr>
          <a:xfrm>
            <a:off x="483320" y="471374"/>
            <a:ext cx="609600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1E3A8A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Electronics Schematics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1379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4200" y="1047651"/>
            <a:ext cx="11023600" cy="532457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5" name="Google Shape;285;p22"/>
          <p:cNvGraphicFramePr/>
          <p:nvPr>
            <p:extLst>
              <p:ext uri="{D42A27DB-BD31-4B8C-83A1-F6EECF244321}">
                <p14:modId xmlns:p14="http://schemas.microsoft.com/office/powerpoint/2010/main" val="2502124911"/>
              </p:ext>
            </p:extLst>
          </p:nvPr>
        </p:nvGraphicFramePr>
        <p:xfrm>
          <a:off x="701041" y="1184820"/>
          <a:ext cx="10708640" cy="5067406"/>
        </p:xfrm>
        <a:graphic>
          <a:graphicData uri="http://schemas.openxmlformats.org/drawingml/2006/table">
            <a:tbl>
              <a:tblPr firstRow="1" bandRow="1">
                <a:noFill/>
                <a:tableStyleId>{8A3A8202-E484-496F-BAE3-F73CC9AC0619}</a:tableStyleId>
              </a:tblPr>
              <a:tblGrid>
                <a:gridCol w="2451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8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6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56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358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2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 / Specification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Qty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Lead Time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 (INR)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2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DevKit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ESP32-WROOM-32 development board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3–7 days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₹450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45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Temperature Sensor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DS18B20 waterproof digital probe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3–7 days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₹100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45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Peltier Module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TEC1-12706 thermoelectric cooler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3–7 days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₹350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2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MOSFET Driver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Logic-level MOSFET module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3–7 days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₹150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2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Heatsink &amp; Fan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Aluminium heatsink with DC fan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set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3–7 days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₹350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45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Battery Pack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Rechargeable battery pack, capacity TBD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5–10 days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₹900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27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BMS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Compatible battery protection module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3–7 days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₹200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324" name="Google Shape;324;p22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2" title="VK colored transparent logo.png"/>
          <p:cNvPicPr preferRelativeResize="0"/>
          <p:nvPr/>
        </p:nvPicPr>
        <p:blipFill rotWithShape="1">
          <a:blip r:embed="rId6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42A46D-8933-6FB8-D53E-B8E80ACFFCFD}"/>
              </a:ext>
            </a:extLst>
          </p:cNvPr>
          <p:cNvSpPr txBox="1"/>
          <p:nvPr/>
        </p:nvSpPr>
        <p:spPr>
          <a:xfrm>
            <a:off x="893140" y="442904"/>
            <a:ext cx="617728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dirty="0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oppins"/>
              </a:rPr>
              <a:t>BOM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>
          <a:extLst>
            <a:ext uri="{FF2B5EF4-FFF2-40B4-BE49-F238E27FC236}">
              <a16:creationId xmlns:a16="http://schemas.microsoft.com/office/drawing/2014/main" id="{B2009E77-2ABF-489E-4DF5-3917630E4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22" descr="image.png">
            <a:extLst>
              <a:ext uri="{FF2B5EF4-FFF2-40B4-BE49-F238E27FC236}">
                <a16:creationId xmlns:a16="http://schemas.microsoft.com/office/drawing/2014/main" id="{DF8AF45B-F3C6-CCC1-1254-333EADF1C32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2" descr="image.png">
            <a:extLst>
              <a:ext uri="{FF2B5EF4-FFF2-40B4-BE49-F238E27FC236}">
                <a16:creationId xmlns:a16="http://schemas.microsoft.com/office/drawing/2014/main" id="{9C292DC9-C634-A1F1-DBE5-81514D47A51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4200" y="1047651"/>
            <a:ext cx="11023600" cy="5324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2" title="MBF_Logo_2020.png">
            <a:extLst>
              <a:ext uri="{FF2B5EF4-FFF2-40B4-BE49-F238E27FC236}">
                <a16:creationId xmlns:a16="http://schemas.microsoft.com/office/drawing/2014/main" id="{2243D47B-2AF3-339F-A198-3FFB004E2506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2" title="VK colored transparent logo.png">
            <a:extLst>
              <a:ext uri="{FF2B5EF4-FFF2-40B4-BE49-F238E27FC236}">
                <a16:creationId xmlns:a16="http://schemas.microsoft.com/office/drawing/2014/main" id="{AE8ADBD1-D6D4-1CA8-9811-3205621E0B8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655FD2-F766-6055-34EC-CE883538E7ED}"/>
              </a:ext>
            </a:extLst>
          </p:cNvPr>
          <p:cNvSpPr txBox="1"/>
          <p:nvPr/>
        </p:nvSpPr>
        <p:spPr>
          <a:xfrm>
            <a:off x="893140" y="442904"/>
            <a:ext cx="617728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dirty="0">
                <a:solidFill>
                  <a:srgbClr val="1E3A8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Poppins"/>
              </a:rPr>
              <a:t>BOM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Google Shape;285;p22">
            <a:extLst>
              <a:ext uri="{FF2B5EF4-FFF2-40B4-BE49-F238E27FC236}">
                <a16:creationId xmlns:a16="http://schemas.microsoft.com/office/drawing/2014/main" id="{86F1B0E0-528A-6C03-AB79-F93A27758B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58421195"/>
              </p:ext>
            </p:extLst>
          </p:nvPr>
        </p:nvGraphicFramePr>
        <p:xfrm>
          <a:off x="741681" y="1221045"/>
          <a:ext cx="10668000" cy="4999756"/>
        </p:xfrm>
        <a:graphic>
          <a:graphicData uri="http://schemas.openxmlformats.org/drawingml/2006/table">
            <a:tbl>
              <a:tblPr firstRow="1" bandRow="1">
                <a:noFill/>
                <a:tableStyleId>{8A3A8202-E484-496F-BAE3-F73CC9AC0619}</a:tableStyleId>
              </a:tblPr>
              <a:tblGrid>
                <a:gridCol w="2442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95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31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7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96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19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Charging Circuit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Compatible USB-C charging module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3–7 days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₹150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OLED Display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0.96-inch I²C OLED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3–7 days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₹180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9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Voltage Regulator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DC-DC buck converter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3–7 days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₹120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0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Passive Components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Resistors, capacitors, diodes and LEDs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lot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2–5 days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₹150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19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Switches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Momentary push buttons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2–5 days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₹30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19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Wiring &amp; Connectors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Headers, terminals and hookup wires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lot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2–5 days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₹150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0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Insulated Enclosure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Outer case, insulation and removable tray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set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5–10 days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₹600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19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Prototype PCB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PCB or perfboard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3–7 days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₹200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19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Estimated Total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b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₹4,080</a:t>
                      </a:r>
                    </a:p>
                  </a:txBody>
                  <a:tcPr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4664819"/>
                  </a:ext>
                </a:extLst>
              </a:tr>
              <a:tr h="41193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82708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9529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956223"/>
            <a:ext cx="11125200" cy="5149937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4"/>
          <p:cNvSpPr txBox="1"/>
          <p:nvPr/>
        </p:nvSpPr>
        <p:spPr>
          <a:xfrm>
            <a:off x="533400" y="407026"/>
            <a:ext cx="11125200" cy="373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5" b="1" i="0" u="none" strike="noStrike" cap="none" dirty="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Maker Journey</a:t>
            </a:r>
            <a:endParaRPr dirty="0"/>
          </a:p>
        </p:txBody>
      </p:sp>
      <p:pic>
        <p:nvPicPr>
          <p:cNvPr id="371" name="Google Shape;371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5625" y="1083855"/>
            <a:ext cx="173384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24" title="MBF_Logo_2020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4" title="VK colored transparent logo.png"/>
          <p:cNvPicPr preferRelativeResize="0"/>
          <p:nvPr/>
        </p:nvPicPr>
        <p:blipFill rotWithShape="1">
          <a:blip r:embed="rId7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5C2988-8658-1EDE-6DA0-1C33DF9BD44C}"/>
              </a:ext>
            </a:extLst>
          </p:cNvPr>
          <p:cNvSpPr txBox="1"/>
          <p:nvPr/>
        </p:nvSpPr>
        <p:spPr>
          <a:xfrm>
            <a:off x="729009" y="955615"/>
            <a:ext cx="10644476" cy="52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Development and Engineering Progress</a:t>
            </a:r>
          </a:p>
          <a:p>
            <a:pPr>
              <a:lnSpc>
                <a:spcPct val="150000"/>
              </a:lnSpc>
              <a:buNone/>
            </a:pPr>
            <a:endParaRPr lang="en-IN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Concept Development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the challenge of transporting temperature-sensitive medicines when reliable refrigeration is unavailable.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 portable, insulated medicine chamber using thermoelectric cooling and temperature feedback.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Electronics Development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the controller, temperature-sensing, power-regulation and cooling-driver circuits.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the circuit schematic and preliminary Bill of Materials.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the ESP32, DS18B20 sensor, Peltier module, heatsink, fan and rechargeable power system as the proposed core hardware.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Mechanical Development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Planned a compact enclosure with an insulated medicine chamber and a separate hot-side cooling assembly.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Considered serviceability, heat removal, wiring access and portability in the layout.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Next Engineering Milestones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the verified circuit and enclosure design.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Assemble the electronics and integrate the thermal module.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temperature regulation, power consumption, battery runtime and recovery after opening the chamber.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5665754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14347" y="1033618"/>
            <a:ext cx="5429250" cy="3402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1625" y="1033618"/>
            <a:ext cx="5429250" cy="3402316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4"/>
          <p:cNvSpPr txBox="1"/>
          <p:nvPr/>
        </p:nvSpPr>
        <p:spPr>
          <a:xfrm>
            <a:off x="533400" y="407026"/>
            <a:ext cx="11125200" cy="373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5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Maker Journey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8" name="Google Shape;368;p24"/>
          <p:cNvSpPr txBox="1"/>
          <p:nvPr/>
        </p:nvSpPr>
        <p:spPr>
          <a:xfrm>
            <a:off x="723900" y="5761004"/>
            <a:ext cx="7953300" cy="209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>
                <a:solidFill>
                  <a:srgbClr val="0F172A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Institutional Sign-Off:</a:t>
            </a:r>
            <a:r>
              <a:rPr lang="en-US" sz="937" b="0" i="0" u="none" strike="noStrike" cap="none">
                <a:solidFill>
                  <a:srgbClr val="475569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 Work audited and certified by Faculty Guide Prof. S. K. Kulkarni, Dept. of Mechatronics, COEP Technological University Pune.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9" name="Google Shape;369;p24"/>
          <p:cNvSpPr txBox="1"/>
          <p:nvPr/>
        </p:nvSpPr>
        <p:spPr>
          <a:xfrm>
            <a:off x="411624" y="4521444"/>
            <a:ext cx="5429250" cy="1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5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2" b="0" i="1" u="none" strike="noStrike" cap="none" dirty="0">
                <a:solidFill>
                  <a:srgbClr val="64748B"/>
                </a:solidFill>
                <a:latin typeface="Times New Roman" panose="02020603050405020304" pitchFamily="18" charset="0"/>
                <a:ea typeface="DM Sans"/>
                <a:cs typeface="Times New Roman" panose="02020603050405020304" pitchFamily="18" charset="0"/>
                <a:sym typeface="DM Sans"/>
              </a:rPr>
              <a:t>Figure: CAD design environment showing the development of the proposed system.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81" name="Google Shape;381;p24" title="MBF_Logo_2020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4" title="VK colored transparent logo.png"/>
          <p:cNvPicPr preferRelativeResize="0"/>
          <p:nvPr/>
        </p:nvPicPr>
        <p:blipFill rotWithShape="1">
          <a:blip r:embed="rId8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C18E681-17D6-D0F9-902A-989EC01DB4C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" y="1470920"/>
            <a:ext cx="4731520" cy="2884128"/>
          </a:xfrm>
          <a:prstGeom prst="rect">
            <a:avLst/>
          </a:prstGeom>
        </p:spPr>
      </p:pic>
      <p:pic>
        <p:nvPicPr>
          <p:cNvPr id="5" name="Google Shape;348;p23" descr="image.png">
            <a:extLst>
              <a:ext uri="{FF2B5EF4-FFF2-40B4-BE49-F238E27FC236}">
                <a16:creationId xmlns:a16="http://schemas.microsoft.com/office/drawing/2014/main" id="{F109F7A4-788B-5D96-D13A-2F5A6B0366D5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12447" y="1154116"/>
            <a:ext cx="318593" cy="19630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49;p23">
            <a:extLst>
              <a:ext uri="{FF2B5EF4-FFF2-40B4-BE49-F238E27FC236}">
                <a16:creationId xmlns:a16="http://schemas.microsoft.com/office/drawing/2014/main" id="{ADE7B9F4-895D-E525-83F3-E00EB56A07B5}"/>
              </a:ext>
            </a:extLst>
          </p:cNvPr>
          <p:cNvSpPr txBox="1"/>
          <p:nvPr/>
        </p:nvSpPr>
        <p:spPr>
          <a:xfrm>
            <a:off x="6880973" y="1125219"/>
            <a:ext cx="26637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Raw Repository Linkage</a:t>
            </a:r>
            <a:endParaRPr sz="1650" b="1" dirty="0">
              <a:latin typeface="Times New Roman" panose="02020603050405020304" pitchFamily="18" charset="0"/>
              <a:ea typeface="Inter"/>
              <a:cs typeface="Times New Roman" panose="02020603050405020304" pitchFamily="18" charset="0"/>
              <a:sym typeface="Inte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73B12B-BF6D-455F-D597-65FE8DD1A1B6}"/>
              </a:ext>
            </a:extLst>
          </p:cNvPr>
          <p:cNvSpPr txBox="1"/>
          <p:nvPr/>
        </p:nvSpPr>
        <p:spPr>
          <a:xfrm>
            <a:off x="805631" y="1088172"/>
            <a:ext cx="2423570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5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Inter"/>
                <a:cs typeface="Times New Roman" panose="02020603050405020304" pitchFamily="18" charset="0"/>
                <a:sym typeface="Inter"/>
              </a:rPr>
              <a:t>Work-In-Progress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Google Shape;343;p23" descr="image.png">
            <a:extLst>
              <a:ext uri="{FF2B5EF4-FFF2-40B4-BE49-F238E27FC236}">
                <a16:creationId xmlns:a16="http://schemas.microsoft.com/office/drawing/2014/main" id="{9A926082-9B4F-F63A-B805-B566E76DCC58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65592" y="1167937"/>
            <a:ext cx="192425" cy="16866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20AC7AB-2D34-045E-349A-35E73610E5EC}"/>
              </a:ext>
            </a:extLst>
          </p:cNvPr>
          <p:cNvSpPr txBox="1"/>
          <p:nvPr/>
        </p:nvSpPr>
        <p:spPr>
          <a:xfrm>
            <a:off x="6479139" y="1840340"/>
            <a:ext cx="439612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12"/>
              </a:rPr>
              <a:t>https://github.com/pranaykpradeep/medicool</a:t>
            </a:r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1317" y="1044900"/>
            <a:ext cx="5372100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25"/>
          <p:cNvSpPr txBox="1"/>
          <p:nvPr/>
        </p:nvSpPr>
        <p:spPr>
          <a:xfrm>
            <a:off x="687300" y="1174251"/>
            <a:ext cx="51405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Electrical Safety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2" name="Google Shape;392;p25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1E3A8A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Safety </a:t>
            </a:r>
            <a:r>
              <a:rPr lang="en-US" sz="2550" b="1" dirty="0">
                <a:solidFill>
                  <a:srgbClr val="1E3A8A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&amp; Hazard Mitigation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3" name="Google Shape;393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78584" y="1033924"/>
            <a:ext cx="5226115" cy="2563675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25"/>
          <p:cNvSpPr txBox="1"/>
          <p:nvPr/>
        </p:nvSpPr>
        <p:spPr>
          <a:xfrm>
            <a:off x="6373048" y="1174251"/>
            <a:ext cx="4521268" cy="278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Medicine Protection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5" name="Google Shape;395;p25"/>
          <p:cNvSpPr txBox="1"/>
          <p:nvPr/>
        </p:nvSpPr>
        <p:spPr>
          <a:xfrm>
            <a:off x="6373048" y="1591575"/>
            <a:ext cx="4866006" cy="1298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temperature limits according to the specific medicine's storage instructions.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the Peltier cold surface from directly contacting stored medicines.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temperature uniformity inside the chamber before claiming safe storage performance.</a:t>
            </a:r>
          </a:p>
        </p:txBody>
      </p:sp>
      <p:pic>
        <p:nvPicPr>
          <p:cNvPr id="397" name="Google Shape;397;p25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5" title="VK colored transparent logo.png"/>
          <p:cNvPicPr preferRelativeResize="0"/>
          <p:nvPr/>
        </p:nvPicPr>
        <p:blipFill rotWithShape="1">
          <a:blip r:embed="rId6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D31F17-23E7-8CAB-E8FD-4860804D3F2C}"/>
              </a:ext>
            </a:extLst>
          </p:cNvPr>
          <p:cNvSpPr txBox="1"/>
          <p:nvPr/>
        </p:nvSpPr>
        <p:spPr>
          <a:xfrm>
            <a:off x="541317" y="1580601"/>
            <a:ext cx="51405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correctly rated battery protection system, fuse and insulated wiring.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 against short circuits, overcurrent, reverse polarity and accidental contact with live conductors.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charging circuit compatible with the selected battery chemistry.</a:t>
            </a:r>
          </a:p>
        </p:txBody>
      </p:sp>
      <p:pic>
        <p:nvPicPr>
          <p:cNvPr id="5" name="Google Shape;387;p25" descr="image.png">
            <a:extLst>
              <a:ext uri="{FF2B5EF4-FFF2-40B4-BE49-F238E27FC236}">
                <a16:creationId xmlns:a16="http://schemas.microsoft.com/office/drawing/2014/main" id="{1F181721-F5D3-57F1-9068-09544709166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1317" y="3773850"/>
            <a:ext cx="5372100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388;p25">
            <a:extLst>
              <a:ext uri="{FF2B5EF4-FFF2-40B4-BE49-F238E27FC236}">
                <a16:creationId xmlns:a16="http://schemas.microsoft.com/office/drawing/2014/main" id="{6AD98933-43D5-C192-6BBB-92A63F8F3889}"/>
              </a:ext>
            </a:extLst>
          </p:cNvPr>
          <p:cNvSpPr txBox="1"/>
          <p:nvPr/>
        </p:nvSpPr>
        <p:spPr>
          <a:xfrm>
            <a:off x="657117" y="3906855"/>
            <a:ext cx="51405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Thermal Safety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6E36AB-E608-AEB7-9453-D172054FC715}"/>
              </a:ext>
            </a:extLst>
          </p:cNvPr>
          <p:cNvSpPr txBox="1"/>
          <p:nvPr/>
        </p:nvSpPr>
        <p:spPr>
          <a:xfrm>
            <a:off x="571500" y="4473465"/>
            <a:ext cx="51405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the medicine chamber temperature continuously.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high- and low-temperature alerts when the chamber exceeds configured limits.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heatsink and fan to remove heat from the Peltier hot side.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or limit cooling if the hot-side temperature, current or other monitored parameters exceed validated safety limits.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745" y="740830"/>
            <a:ext cx="11414355" cy="598935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26"/>
          <p:cNvSpPr txBox="1"/>
          <p:nvPr/>
        </p:nvSpPr>
        <p:spPr>
          <a:xfrm>
            <a:off x="1272575" y="878020"/>
            <a:ext cx="10199450" cy="5709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 1 — Design Finalisation</a:t>
            </a:r>
          </a:p>
          <a:p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Finalise circuit schematic, component specifications and BOM.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Complete enclosure CAD and insulation layout.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Calculate the cooling load, battery capacity and heat-dissipation requirements.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Procure the essential components.</a:t>
            </a:r>
          </a:p>
          <a:p>
            <a:pPr lvl="0"/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 2 — Fabrication and Assembly</a:t>
            </a:r>
          </a:p>
          <a:p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Assemble the ESP32 control and temperature-sensing circuit.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Integrate the Peltier module, heatsink and fan.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Fabricate the insulated enclosure and install the battery and charging system.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Perform electrical continuity and power-up checks.</a:t>
            </a:r>
          </a:p>
          <a:p>
            <a:pPr lvl="0"/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 3 — Firmware and System Integration</a:t>
            </a:r>
          </a:p>
          <a:p>
            <a:endParaRPr lang="en-IN" sz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Implement temperature monitoring and automatic cooling control.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Integrate the OLED display and temperature alerts.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Test sensor readings, cooling response and power consumption.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Correct wiring, thermal and firmware issues identified during testing.</a:t>
            </a:r>
          </a:p>
          <a:p>
            <a:pPr lvl="0"/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 4 — Testing and Demonstration</a:t>
            </a:r>
          </a:p>
          <a:p>
            <a:endParaRPr lang="en-IN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Measure time to reach the target temperature.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Evaluate temperature stability and recovery after opening the chamber.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Measure battery runtime under defined test conditions.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Document results, complete safety checks and prepare the Stage 3 demonstration.</a:t>
            </a:r>
          </a:p>
        </p:txBody>
      </p:sp>
      <p:pic>
        <p:nvPicPr>
          <p:cNvPr id="408" name="Google Shape;408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4220" y="323021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26"/>
          <p:cNvSpPr txBox="1"/>
          <p:nvPr/>
        </p:nvSpPr>
        <p:spPr>
          <a:xfrm>
            <a:off x="758745" y="279221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1E3A8A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Roadmap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0" name="Google Shape;410;p26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15298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26" title="VK colored transparent logo.png"/>
          <p:cNvPicPr preferRelativeResize="0"/>
          <p:nvPr/>
        </p:nvPicPr>
        <p:blipFill rotWithShape="1">
          <a:blip r:embed="rId6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6720" y="833710"/>
            <a:ext cx="11125200" cy="544709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27"/>
          <p:cNvSpPr txBox="1"/>
          <p:nvPr/>
        </p:nvSpPr>
        <p:spPr>
          <a:xfrm>
            <a:off x="533400" y="405436"/>
            <a:ext cx="11125200" cy="373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5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Poppins SemiBold"/>
                <a:cs typeface="Times New Roman" panose="02020603050405020304" pitchFamily="18" charset="0"/>
                <a:sym typeface="Poppins SemiBold"/>
              </a:rPr>
              <a:t>Safety by Design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23" name="Google Shape;423;p27"/>
          <p:cNvGraphicFramePr/>
          <p:nvPr>
            <p:extLst>
              <p:ext uri="{D42A27DB-BD31-4B8C-83A1-F6EECF244321}">
                <p14:modId xmlns:p14="http://schemas.microsoft.com/office/powerpoint/2010/main" val="3878766308"/>
              </p:ext>
            </p:extLst>
          </p:nvPr>
        </p:nvGraphicFramePr>
        <p:xfrm>
          <a:off x="640080" y="879504"/>
          <a:ext cx="10795707" cy="5273040"/>
        </p:xfrm>
        <a:graphic>
          <a:graphicData uri="http://schemas.openxmlformats.org/drawingml/2006/table">
            <a:tbl>
              <a:tblPr firstRow="1" bandRow="1">
                <a:noFill/>
                <a:tableStyleId>{8A3A8202-E484-496F-BAE3-F73CC9AC0619}</a:tableStyleId>
              </a:tblPr>
              <a:tblGrid>
                <a:gridCol w="1601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4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89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Failure mode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Potential consequence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Mitigation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Temperature sensor failure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Incorrect temperature measurement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 readings and detect sensor disconnection or invalid data.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Peltier overheating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cooling performance or component damage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a properly rated heatsink, fan and thermal shutdown logic.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Battery undervoltage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Unexpected system shutdown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 battery voltage and provide a low-battery warning.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 circuit or excessive current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Wiring or component damage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 suitable fuse protection and verify current ratings.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1552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Poor chamber insulation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Excessive power consumption and unstable temperature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Seal thermal gaps and evaluate insulation performance.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0738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Temperature exceeds limits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Medicine may be exposed to unsuitable conditions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Trigger an alert and record the temperature excursion where supported.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7272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Failure mode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Potential consequence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Mitigation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508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Temperature sensor failure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Incorrect temperature measurement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 readings and detect sensor disconnection or invalid data.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4397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Peltier overheating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cooling performance or component damage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a properly rated heatsink, fan and thermal shutdown logic.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6987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Battery undervoltage</a:t>
                      </a:r>
                    </a:p>
                  </a:txBody>
                  <a:tcPr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Unexpected system shutdown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 battery voltage and provide a low-battery warning.</a:t>
                      </a: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8834290"/>
                  </a:ext>
                </a:extLst>
              </a:tr>
            </a:tbl>
          </a:graphicData>
        </a:graphic>
      </p:graphicFrame>
      <p:pic>
        <p:nvPicPr>
          <p:cNvPr id="447" name="Google Shape;447;p27" title="MBF_Logo_202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27" title="VK colored transparent logo.png"/>
          <p:cNvPicPr preferRelativeResize="0"/>
          <p:nvPr/>
        </p:nvPicPr>
        <p:blipFill rotWithShape="1">
          <a:blip r:embed="rId6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1332" y="954755"/>
            <a:ext cx="11142513" cy="536131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28"/>
          <p:cNvSpPr txBox="1"/>
          <p:nvPr/>
        </p:nvSpPr>
        <p:spPr>
          <a:xfrm>
            <a:off x="934335" y="1047055"/>
            <a:ext cx="10160859" cy="5539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IN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Thermal Management</a:t>
            </a:r>
            <a:endParaRPr lang="en-IN" sz="1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Maintaining the target 2–8°C chamber temperature under varying ambient conditions.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Preventing heat accumulation on the Peltier module's hot side.</a:t>
            </a:r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Runtime</a:t>
            </a:r>
            <a:endParaRPr lang="en-IN" sz="1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Balancing Peltier power consumption with the target 4-hour battery backup.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Managing battery capacity, peak current and overall device weight.</a:t>
            </a:r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Stability</a:t>
            </a:r>
            <a:endParaRPr lang="en-IN" sz="1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Preventing temperature fluctuations when the lid is opened.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Ensuring uniform cooling throughout the medicine chamber.</a:t>
            </a:r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 Integration</a:t>
            </a:r>
            <a:endParaRPr lang="en-IN" sz="1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Integrating the ESP32, DS18B20 sensor, MOSFET driver and power-management circuit.</a:t>
            </a:r>
          </a:p>
          <a:p>
            <a:pPr lvl="0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Protecting against sensor failure, overcurrent and battery undervoltage.</a:t>
            </a:r>
          </a:p>
          <a:p>
            <a:pPr lvl="0"/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Technical Risks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Insufficient cooling: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Inadequate heatsink capacity or poor insulation.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Short battery life: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Higher-than-expected cooling power demand.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Temperature excursion: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Sensor faults or delayed cooling response.</a:t>
            </a:r>
          </a:p>
          <a:p>
            <a:pPr lvl="0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Component failure: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Excessive current or inadequate electrical protection.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7" name="Google Shape;457;p28"/>
          <p:cNvSpPr txBox="1"/>
          <p:nvPr/>
        </p:nvSpPr>
        <p:spPr>
          <a:xfrm>
            <a:off x="571500" y="476250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 dirty="0">
                <a:solidFill>
                  <a:srgbClr val="1E3A8A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Technical Challenges </a:t>
            </a:r>
            <a:r>
              <a:rPr lang="en-US" sz="2550" b="1" dirty="0">
                <a:solidFill>
                  <a:srgbClr val="1E3A8A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&amp; Risks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58" name="Google Shape;458;p28" title="MBF_Logo_202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28" title="VK colored transparent logo.png"/>
          <p:cNvPicPr preferRelativeResize="0"/>
          <p:nvPr/>
        </p:nvPicPr>
        <p:blipFill rotWithShape="1">
          <a:blip r:embed="rId5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7141" y="1236738"/>
            <a:ext cx="4408756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29"/>
          <p:cNvSpPr txBox="1"/>
          <p:nvPr/>
        </p:nvSpPr>
        <p:spPr>
          <a:xfrm>
            <a:off x="1268965" y="1364938"/>
            <a:ext cx="400461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Control</a:t>
            </a:r>
          </a:p>
        </p:txBody>
      </p:sp>
      <p:sp>
        <p:nvSpPr>
          <p:cNvPr id="467" name="Google Shape;467;p29"/>
          <p:cNvSpPr txBox="1"/>
          <p:nvPr/>
        </p:nvSpPr>
        <p:spPr>
          <a:xfrm>
            <a:off x="1345266" y="1899160"/>
            <a:ext cx="3587635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may fluctuate or fall below the required range.</a:t>
            </a: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Mitigation: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sensor-based feedback control, temperature alerts and independent temperature monitoring during testing.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9" name="Google Shape;469;p29"/>
          <p:cNvSpPr txBox="1"/>
          <p:nvPr/>
        </p:nvSpPr>
        <p:spPr>
          <a:xfrm>
            <a:off x="197675" y="371362"/>
            <a:ext cx="116016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dirty="0">
                <a:solidFill>
                  <a:srgbClr val="1E3A8A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Potential Solutions &amp; Risk Mitigation (1 Slide)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70" name="Google Shape;470;p29" title="MBF_Logo_202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29" title="VK colored transparent logo.png"/>
          <p:cNvPicPr preferRelativeResize="0"/>
          <p:nvPr/>
        </p:nvPicPr>
        <p:blipFill rotWithShape="1">
          <a:blip r:embed="rId5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465;p29" descr="image.png">
            <a:extLst>
              <a:ext uri="{FF2B5EF4-FFF2-40B4-BE49-F238E27FC236}">
                <a16:creationId xmlns:a16="http://schemas.microsoft.com/office/drawing/2014/main" id="{2EBF38E5-B73B-102C-30F6-6DDBB03E682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76104" y="1183317"/>
            <a:ext cx="449304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466;p29">
            <a:extLst>
              <a:ext uri="{FF2B5EF4-FFF2-40B4-BE49-F238E27FC236}">
                <a16:creationId xmlns:a16="http://schemas.microsoft.com/office/drawing/2014/main" id="{82A0139B-7ACB-B5D1-1A01-5A2C472238BE}"/>
              </a:ext>
            </a:extLst>
          </p:cNvPr>
          <p:cNvSpPr txBox="1"/>
          <p:nvPr/>
        </p:nvSpPr>
        <p:spPr>
          <a:xfrm>
            <a:off x="6926148" y="1311517"/>
            <a:ext cx="408117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&amp; Heat Dissipation</a:t>
            </a:r>
          </a:p>
        </p:txBody>
      </p:sp>
      <p:sp>
        <p:nvSpPr>
          <p:cNvPr id="11" name="Google Shape;467;p29">
            <a:extLst>
              <a:ext uri="{FF2B5EF4-FFF2-40B4-BE49-F238E27FC236}">
                <a16:creationId xmlns:a16="http://schemas.microsoft.com/office/drawing/2014/main" id="{B7C02CE4-F484-1E63-8045-AB37D1CF189C}"/>
              </a:ext>
            </a:extLst>
          </p:cNvPr>
          <p:cNvSpPr txBox="1"/>
          <p:nvPr/>
        </p:nvSpPr>
        <p:spPr>
          <a:xfrm>
            <a:off x="7093470" y="1845739"/>
            <a:ext cx="3800671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High power consumption, battery depletion or overheating on the hot side.</a:t>
            </a: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Select a suitably rated battery with protection circuitry, and use a heatsink, fan and separated airflow path.</a:t>
            </a:r>
          </a:p>
        </p:txBody>
      </p:sp>
      <p:pic>
        <p:nvPicPr>
          <p:cNvPr id="13" name="Google Shape;465;p29" descr="image.png">
            <a:extLst>
              <a:ext uri="{FF2B5EF4-FFF2-40B4-BE49-F238E27FC236}">
                <a16:creationId xmlns:a16="http://schemas.microsoft.com/office/drawing/2014/main" id="{F5F994FE-4A34-2253-D9B3-99DAFB69B8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7141" y="3960123"/>
            <a:ext cx="4408755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466;p29">
            <a:extLst>
              <a:ext uri="{FF2B5EF4-FFF2-40B4-BE49-F238E27FC236}">
                <a16:creationId xmlns:a16="http://schemas.microsoft.com/office/drawing/2014/main" id="{4AB17BB8-91C2-BBDD-5EB3-498F0D42BA30}"/>
              </a:ext>
            </a:extLst>
          </p:cNvPr>
          <p:cNvSpPr txBox="1"/>
          <p:nvPr/>
        </p:nvSpPr>
        <p:spPr>
          <a:xfrm>
            <a:off x="1310420" y="4088323"/>
            <a:ext cx="400461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or System Failure</a:t>
            </a:r>
          </a:p>
        </p:txBody>
      </p:sp>
      <p:sp>
        <p:nvSpPr>
          <p:cNvPr id="17" name="Google Shape;467;p29">
            <a:extLst>
              <a:ext uri="{FF2B5EF4-FFF2-40B4-BE49-F238E27FC236}">
                <a16:creationId xmlns:a16="http://schemas.microsoft.com/office/drawing/2014/main" id="{88BD8059-5447-9328-CE2C-1137965A1B38}"/>
              </a:ext>
            </a:extLst>
          </p:cNvPr>
          <p:cNvSpPr txBox="1"/>
          <p:nvPr/>
        </p:nvSpPr>
        <p:spPr>
          <a:xfrm>
            <a:off x="1429491" y="4622545"/>
            <a:ext cx="3587635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Sensor faults or controller failure may interrupt cooling.</a:t>
            </a:r>
          </a:p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Mitigation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Detect invalid sensor readings, trigger fault alerts and test safe shutdown or fallback behaviour.</a:t>
            </a:r>
          </a:p>
        </p:txBody>
      </p:sp>
      <p:pic>
        <p:nvPicPr>
          <p:cNvPr id="25" name="Google Shape;465;p29" descr="image.png">
            <a:extLst>
              <a:ext uri="{FF2B5EF4-FFF2-40B4-BE49-F238E27FC236}">
                <a16:creationId xmlns:a16="http://schemas.microsoft.com/office/drawing/2014/main" id="{FC4C67EE-0675-27AD-7BAA-A33BB190B69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76104" y="3960123"/>
            <a:ext cx="4493040" cy="2438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466;p29">
            <a:extLst>
              <a:ext uri="{FF2B5EF4-FFF2-40B4-BE49-F238E27FC236}">
                <a16:creationId xmlns:a16="http://schemas.microsoft.com/office/drawing/2014/main" id="{81BFFD77-0D4C-2C16-133A-BCCF2D3AF5C4}"/>
              </a:ext>
            </a:extLst>
          </p:cNvPr>
          <p:cNvSpPr txBox="1"/>
          <p:nvPr/>
        </p:nvSpPr>
        <p:spPr>
          <a:xfrm>
            <a:off x="6855761" y="4092395"/>
            <a:ext cx="408117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Medicine Safety</a:t>
            </a:r>
          </a:p>
        </p:txBody>
      </p:sp>
      <p:sp>
        <p:nvSpPr>
          <p:cNvPr id="29" name="Google Shape;467;p29">
            <a:extLst>
              <a:ext uri="{FF2B5EF4-FFF2-40B4-BE49-F238E27FC236}">
                <a16:creationId xmlns:a16="http://schemas.microsoft.com/office/drawing/2014/main" id="{99A35966-A2B5-2B1C-F35A-A4A9D21E4659}"/>
              </a:ext>
            </a:extLst>
          </p:cNvPr>
          <p:cNvSpPr txBox="1"/>
          <p:nvPr/>
        </p:nvSpPr>
        <p:spPr>
          <a:xfrm>
            <a:off x="6890945" y="4506438"/>
            <a:ext cx="3915748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Poor insulation, condensation or accidental freezing may affect storage conditions.</a:t>
            </a:r>
          </a:p>
          <a:p>
            <a:pPr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Mitigation: Use an insulated, sealed chamber and validate temperature uniformity, condensation control and low-temperature cut-off.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5665754"/>
            <a:ext cx="11125200" cy="363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3400" y="956223"/>
            <a:ext cx="3568600" cy="346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11550" y="956223"/>
            <a:ext cx="3568749" cy="346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089850" y="956223"/>
            <a:ext cx="3568600" cy="346157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30"/>
          <p:cNvSpPr txBox="1"/>
          <p:nvPr/>
        </p:nvSpPr>
        <p:spPr>
          <a:xfrm>
            <a:off x="533400" y="438150"/>
            <a:ext cx="11125200" cy="308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5" b="1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Example: Technical Challenges &amp; Risks</a:t>
            </a:r>
            <a:endParaRPr/>
          </a:p>
        </p:txBody>
      </p:sp>
      <p:sp>
        <p:nvSpPr>
          <p:cNvPr id="484" name="Google Shape;484;p30"/>
          <p:cNvSpPr txBox="1"/>
          <p:nvPr/>
        </p:nvSpPr>
        <p:spPr>
          <a:xfrm>
            <a:off x="723900" y="5761004"/>
            <a:ext cx="7715400" cy="3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Empirical Verification:</a:t>
            </a:r>
            <a:r>
              <a:rPr lang="en-US" sz="937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Benchtop clay test rig showed a 94% reduction in mechanical rotational drag after installing the PTFE scraper combs.</a:t>
            </a:r>
            <a:endParaRPr/>
          </a:p>
        </p:txBody>
      </p:sp>
      <p:sp>
        <p:nvSpPr>
          <p:cNvPr id="485" name="Google Shape;485;p30"/>
          <p:cNvSpPr txBox="1"/>
          <p:nvPr/>
        </p:nvSpPr>
        <p:spPr>
          <a:xfrm>
            <a:off x="752475" y="1461045"/>
            <a:ext cx="313045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Observed Risk:</a:t>
            </a:r>
            <a:r>
              <a:rPr lang="en-US" sz="937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High-moisture (&gt;25%) black cotton soil adheres to rotary cultivator teeth, causing rotational binding within 12 minutes of continuous furrow tilling.</a:t>
            </a:r>
            <a:endParaRPr/>
          </a:p>
        </p:txBody>
      </p:sp>
      <p:sp>
        <p:nvSpPr>
          <p:cNvPr id="486" name="Google Shape;486;p30"/>
          <p:cNvSpPr txBox="1"/>
          <p:nvPr/>
        </p:nvSpPr>
        <p:spPr>
          <a:xfrm>
            <a:off x="752475" y="2055167"/>
            <a:ext cx="313045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Mitigation:</a:t>
            </a:r>
            <a:r>
              <a:rPr lang="en-US" sz="937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Installed stationary low-friction PTFE scraper blades offset 1.5mm from the tine arc to dynamically peel away clay buildup on every rotation.</a:t>
            </a:r>
            <a:endParaRPr/>
          </a:p>
        </p:txBody>
      </p:sp>
      <p:sp>
        <p:nvSpPr>
          <p:cNvPr id="487" name="Google Shape;487;p30"/>
          <p:cNvSpPr txBox="1"/>
          <p:nvPr/>
        </p:nvSpPr>
        <p:spPr>
          <a:xfrm>
            <a:off x="4530625" y="1461045"/>
            <a:ext cx="3130599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Observed Risk:</a:t>
            </a:r>
            <a:r>
              <a:rPr lang="en-US" sz="937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Hub motor temperatures reached 68°C in simulation during sustained noon operations at 38°C ambient Maharashtra field heat.</a:t>
            </a:r>
            <a:endParaRPr/>
          </a:p>
        </p:txBody>
      </p:sp>
      <p:sp>
        <p:nvSpPr>
          <p:cNvPr id="488" name="Google Shape;488;p30"/>
          <p:cNvSpPr txBox="1"/>
          <p:nvPr/>
        </p:nvSpPr>
        <p:spPr>
          <a:xfrm>
            <a:off x="4530625" y="2055167"/>
            <a:ext cx="3130599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Mitigation:</a:t>
            </a:r>
            <a:r>
              <a:rPr lang="en-US" sz="937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Retrofitted extruded radial aluminum heatsinks directly coupled via 3.0 W/mK silicone thermal pads, stabilizing motor casing temps below 47°C.</a:t>
            </a:r>
            <a:endParaRPr/>
          </a:p>
        </p:txBody>
      </p:sp>
      <p:sp>
        <p:nvSpPr>
          <p:cNvPr id="489" name="Google Shape;489;p30"/>
          <p:cNvSpPr txBox="1"/>
          <p:nvPr/>
        </p:nvSpPr>
        <p:spPr>
          <a:xfrm>
            <a:off x="8308925" y="1461045"/>
            <a:ext cx="3130450" cy="34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ISO 4254-1 Compliance:</a:t>
            </a:r>
            <a:r>
              <a:rPr lang="en-US" sz="937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2mm sheet steel blade shrouds eliminate projectile pebble hazards.</a:t>
            </a:r>
            <a:endParaRPr/>
          </a:p>
        </p:txBody>
      </p:sp>
      <p:sp>
        <p:nvSpPr>
          <p:cNvPr id="490" name="Google Shape;490;p30"/>
          <p:cNvSpPr txBox="1"/>
          <p:nvPr/>
        </p:nvSpPr>
        <p:spPr>
          <a:xfrm>
            <a:off x="8308925" y="1882526"/>
            <a:ext cx="313045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IP65 Ingress Sealing:</a:t>
            </a:r>
            <a:r>
              <a:rPr lang="en-US" sz="937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Gasket-sealed ASA electronics bay with IP68 PG7 cable glands tested against direct pressurized spray.</a:t>
            </a:r>
            <a:endParaRPr/>
          </a:p>
        </p:txBody>
      </p:sp>
      <p:sp>
        <p:nvSpPr>
          <p:cNvPr id="491" name="Google Shape;491;p30"/>
          <p:cNvSpPr txBox="1"/>
          <p:nvPr/>
        </p:nvSpPr>
        <p:spPr>
          <a:xfrm>
            <a:off x="8308925" y="2476648"/>
            <a:ext cx="3130450" cy="345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37" b="1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IEC 62133:</a:t>
            </a:r>
            <a:r>
              <a:rPr lang="en-US" sz="937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BMS equipped with cell-level thermal sensors and overcharge isolation.</a:t>
            </a:r>
            <a:endParaRPr/>
          </a:p>
        </p:txBody>
      </p:sp>
      <p:pic>
        <p:nvPicPr>
          <p:cNvPr id="492" name="Google Shape;492;p3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52475" y="1175295"/>
            <a:ext cx="1924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30"/>
          <p:cNvSpPr txBox="1"/>
          <p:nvPr/>
        </p:nvSpPr>
        <p:spPr>
          <a:xfrm>
            <a:off x="1040159" y="1156245"/>
            <a:ext cx="2131814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Bottleneck: Wet Soil Clogging</a:t>
            </a:r>
            <a:endParaRPr/>
          </a:p>
        </p:txBody>
      </p:sp>
      <p:pic>
        <p:nvPicPr>
          <p:cNvPr id="494" name="Google Shape;494;p3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530625" y="1175295"/>
            <a:ext cx="17338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30"/>
          <p:cNvSpPr txBox="1"/>
          <p:nvPr/>
        </p:nvSpPr>
        <p:spPr>
          <a:xfrm>
            <a:off x="4799260" y="1156245"/>
            <a:ext cx="221932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Bottleneck: Thermal Throttling</a:t>
            </a:r>
            <a:endParaRPr/>
          </a:p>
        </p:txBody>
      </p:sp>
      <p:pic>
        <p:nvPicPr>
          <p:cNvPr id="496" name="Google Shape;496;p3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08925" y="1175295"/>
            <a:ext cx="154334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30"/>
          <p:cNvSpPr txBox="1"/>
          <p:nvPr/>
        </p:nvSpPr>
        <p:spPr>
          <a:xfrm>
            <a:off x="8558510" y="1156245"/>
            <a:ext cx="2127944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Standards &amp; Enclosure Specs</a:t>
            </a:r>
            <a:endParaRPr/>
          </a:p>
        </p:txBody>
      </p:sp>
      <p:pic>
        <p:nvPicPr>
          <p:cNvPr id="498" name="Google Shape;498;p30" title="MBF_Logo_2020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30" title="VK colored transparent logo.png"/>
          <p:cNvPicPr preferRelativeResize="0"/>
          <p:nvPr/>
        </p:nvPicPr>
        <p:blipFill rotWithShape="1">
          <a:blip r:embed="rId12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32"/>
          <p:cNvSpPr txBox="1"/>
          <p:nvPr/>
        </p:nvSpPr>
        <p:spPr>
          <a:xfrm>
            <a:off x="533400" y="438150"/>
            <a:ext cx="11658600" cy="308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199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5" b="1" i="0" u="none" strike="noStrike" cap="non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523" name="Google Shape;523;p32"/>
          <p:cNvSpPr/>
          <p:nvPr/>
        </p:nvSpPr>
        <p:spPr>
          <a:xfrm>
            <a:off x="533400" y="956220"/>
            <a:ext cx="11125200" cy="922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2"/>
          <p:cNvSpPr/>
          <p:nvPr/>
        </p:nvSpPr>
        <p:spPr>
          <a:xfrm>
            <a:off x="533400" y="1878955"/>
            <a:ext cx="111252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2"/>
          <p:cNvSpPr/>
          <p:nvPr/>
        </p:nvSpPr>
        <p:spPr>
          <a:xfrm>
            <a:off x="533400" y="2650480"/>
            <a:ext cx="111252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2"/>
          <p:cNvSpPr/>
          <p:nvPr/>
        </p:nvSpPr>
        <p:spPr>
          <a:xfrm>
            <a:off x="533400" y="3422005"/>
            <a:ext cx="1112520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32"/>
          <p:cNvSpPr/>
          <p:nvPr/>
        </p:nvSpPr>
        <p:spPr>
          <a:xfrm>
            <a:off x="533400" y="1869430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2"/>
          <p:cNvSpPr/>
          <p:nvPr/>
        </p:nvSpPr>
        <p:spPr>
          <a:xfrm>
            <a:off x="533400" y="1869430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2"/>
          <p:cNvSpPr/>
          <p:nvPr/>
        </p:nvSpPr>
        <p:spPr>
          <a:xfrm>
            <a:off x="533400" y="264095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2"/>
          <p:cNvSpPr/>
          <p:nvPr/>
        </p:nvSpPr>
        <p:spPr>
          <a:xfrm>
            <a:off x="533400" y="264095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2"/>
          <p:cNvSpPr/>
          <p:nvPr/>
        </p:nvSpPr>
        <p:spPr>
          <a:xfrm>
            <a:off x="533400" y="3412480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2"/>
          <p:cNvSpPr/>
          <p:nvPr/>
        </p:nvSpPr>
        <p:spPr>
          <a:xfrm>
            <a:off x="533400" y="3412480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2"/>
          <p:cNvSpPr/>
          <p:nvPr/>
        </p:nvSpPr>
        <p:spPr>
          <a:xfrm>
            <a:off x="533400" y="418400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2"/>
          <p:cNvSpPr/>
          <p:nvPr/>
        </p:nvSpPr>
        <p:spPr>
          <a:xfrm>
            <a:off x="533400" y="4184005"/>
            <a:ext cx="11125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5" name="Google Shape;535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5323" y="1174700"/>
            <a:ext cx="473403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2"/>
          <p:cNvSpPr txBox="1"/>
          <p:nvPr/>
        </p:nvSpPr>
        <p:spPr>
          <a:xfrm>
            <a:off x="1628775" y="1099095"/>
            <a:ext cx="10029825" cy="21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4923"/>
              </a:lnSpc>
            </a:pPr>
            <a:r>
              <a:rPr lang="en-US" sz="975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https://www.flipkart.com/outer-woods-insulin-cooler-travel-bag-diabetics-two-ice-gel-packs-pack/p/itm0fca7d4816eb5</a:t>
            </a:r>
            <a:endParaRPr dirty="0"/>
          </a:p>
        </p:txBody>
      </p:sp>
      <p:sp>
        <p:nvSpPr>
          <p:cNvPr id="537" name="Google Shape;537;p32"/>
          <p:cNvSpPr txBox="1"/>
          <p:nvPr/>
        </p:nvSpPr>
        <p:spPr>
          <a:xfrm>
            <a:off x="1628775" y="1505694"/>
            <a:ext cx="10029825" cy="267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4916"/>
              </a:lnSpc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dirty="0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www.flipkart.com</a:t>
            </a:r>
            <a:endParaRPr dirty="0"/>
          </a:p>
        </p:txBody>
      </p:sp>
      <p:pic>
        <p:nvPicPr>
          <p:cNvPr id="538" name="Google Shape;538;p32"/>
          <p:cNvPicPr preferRelativeResize="0"/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33400" y="2068587"/>
            <a:ext cx="857250" cy="382735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32"/>
          <p:cNvSpPr txBox="1"/>
          <p:nvPr/>
        </p:nvSpPr>
        <p:spPr>
          <a:xfrm>
            <a:off x="1628775" y="2035968"/>
            <a:ext cx="10029825" cy="21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dirty="0">
                <a:solidFill>
                  <a:srgbClr val="334155"/>
                </a:solidFill>
                <a:latin typeface="DM Sans"/>
                <a:sym typeface="DM Sans"/>
              </a:rPr>
              <a:t>Ai concept image.</a:t>
            </a:r>
            <a:endParaRPr dirty="0"/>
          </a:p>
        </p:txBody>
      </p:sp>
      <p:sp>
        <p:nvSpPr>
          <p:cNvPr id="540" name="Google Shape;540;p32"/>
          <p:cNvSpPr txBox="1"/>
          <p:nvPr/>
        </p:nvSpPr>
        <p:spPr>
          <a:xfrm>
            <a:off x="1628775" y="2263080"/>
            <a:ext cx="10029825" cy="267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lang="en-US" sz="1200" b="0" i="0" u="none" strike="noStrike" cap="none" dirty="0" err="1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chatgpt</a:t>
            </a:r>
            <a:endParaRPr dirty="0"/>
          </a:p>
        </p:txBody>
      </p:sp>
      <p:pic>
        <p:nvPicPr>
          <p:cNvPr id="541" name="Google Shape;541;p32"/>
          <p:cNvPicPr preferRelativeResize="0"/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33400" y="2818764"/>
            <a:ext cx="857250" cy="425431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32"/>
          <p:cNvSpPr txBox="1"/>
          <p:nvPr/>
        </p:nvSpPr>
        <p:spPr>
          <a:xfrm>
            <a:off x="1628775" y="2807493"/>
            <a:ext cx="10029825" cy="21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dirty="0">
                <a:solidFill>
                  <a:srgbClr val="334155"/>
                </a:solidFill>
                <a:latin typeface="DM Sans"/>
                <a:sym typeface="DM Sans"/>
              </a:rPr>
              <a:t>3d design .</a:t>
            </a:r>
            <a:endParaRPr dirty="0"/>
          </a:p>
        </p:txBody>
      </p:sp>
      <p:pic>
        <p:nvPicPr>
          <p:cNvPr id="544" name="Google Shape;544;p3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3400" y="3612296"/>
            <a:ext cx="857250" cy="381417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32"/>
          <p:cNvSpPr txBox="1"/>
          <p:nvPr/>
        </p:nvSpPr>
        <p:spPr>
          <a:xfrm>
            <a:off x="1628775" y="3579018"/>
            <a:ext cx="10029825" cy="21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dirty="0">
                <a:solidFill>
                  <a:srgbClr val="334155"/>
                </a:solidFill>
                <a:latin typeface="DM Sans"/>
                <a:sym typeface="DM Sans"/>
              </a:rPr>
              <a:t>Circuit diagram</a:t>
            </a:r>
            <a:endParaRPr dirty="0"/>
          </a:p>
        </p:txBody>
      </p:sp>
      <p:pic>
        <p:nvPicPr>
          <p:cNvPr id="547" name="Google Shape;547;p3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359" y="4336405"/>
            <a:ext cx="781331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32"/>
          <p:cNvSpPr txBox="1"/>
          <p:nvPr/>
        </p:nvSpPr>
        <p:spPr>
          <a:xfrm>
            <a:off x="1628775" y="4350543"/>
            <a:ext cx="10029825" cy="21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3d designing interface with work tree</a:t>
            </a:r>
            <a:endParaRPr dirty="0"/>
          </a:p>
        </p:txBody>
      </p:sp>
      <p:pic>
        <p:nvPicPr>
          <p:cNvPr id="551" name="Google Shape;551;p32" title="MBF_Logo_2020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32" title="VK colored transparent logo.png"/>
          <p:cNvPicPr preferRelativeResize="0"/>
          <p:nvPr/>
        </p:nvPicPr>
        <p:blipFill rotWithShape="1">
          <a:blip r:embed="rId10">
            <a:alphaModFix/>
          </a:blip>
          <a:srcRect l="14673" t="33074" r="15820" b="44466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4737</TotalTime>
  <Words>2208</Words>
  <Application>Microsoft Office PowerPoint</Application>
  <PresentationFormat>Widescreen</PresentationFormat>
  <Paragraphs>344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DM Sans</vt:lpstr>
      <vt:lpstr>Poppins SemiBold</vt:lpstr>
      <vt:lpstr>Times New Roman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Pranay K Pradeep</dc:creator>
  <cp:lastModifiedBy>Pranay K Pradeep</cp:lastModifiedBy>
  <cp:revision>9</cp:revision>
  <dcterms:modified xsi:type="dcterms:W3CDTF">2026-10-22T16:02:49Z</dcterms:modified>
</cp:coreProperties>
</file>