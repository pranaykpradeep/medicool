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CD2D2"/>
                </a:solidFill>
              </a:defRPr>
            </a:pPr>
            <a:r>
              <a:t>MILESTONE 6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Test Report &amp; User Guide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Team 12  |  Java Programming Project</a:t>
            </a:r>
          </a:p>
          <a:p>
            <a:pPr>
              <a:defRPr sz="1200">
                <a:solidFill>
                  <a:srgbClr val="D2DCE6"/>
                </a:solidFill>
              </a:defRPr>
            </a:pPr>
            <a:r>
              <a:t>Working draft based on available project context — verify against the submitted source files.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8"/>
                </a:solidFill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69AA"/>
                </a:solidFill>
              </a:defRPr>
            </a:pPr>
            <a:r>
              <a:t>Milestone 6 — documentation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23C"/>
                </a:solidFill>
              </a:defRPr>
            </a:pPr>
            <a:r>
              <a:t>Project: Library Management System (Java programming project).</a:t>
            </a:r>
          </a:p>
          <a:p>
            <a:pPr>
              <a:spcAft>
                <a:spcPts val="1300"/>
              </a:spcAft>
              <a:defRPr sz="1900">
                <a:solidFill>
                  <a:srgbClr val="28323C"/>
                </a:solidFill>
              </a:defRPr>
            </a:pPr>
            <a:r>
              <a:t>Purpose: organize common library operations through a software-based workflow.</a:t>
            </a:r>
          </a:p>
          <a:p>
            <a:pPr>
              <a:spcAft>
                <a:spcPts val="1300"/>
              </a:spcAft>
              <a:defRPr sz="1900">
                <a:solidFill>
                  <a:srgbClr val="28323C"/>
                </a:solidFill>
              </a:defRPr>
            </a:pPr>
            <a:r>
              <a:t>This milestone documents the proposed test approach, test cases, and user-facing operating instructions.</a:t>
            </a:r>
          </a:p>
          <a:p>
            <a:pPr>
              <a:spcAft>
                <a:spcPts val="1300"/>
              </a:spcAft>
              <a:defRPr sz="1900">
                <a:solidFill>
                  <a:srgbClr val="28323C"/>
                </a:solidFill>
              </a:defRPr>
            </a:pPr>
            <a:r>
              <a:t>Implementation details, exact feature names, team member names, and execution evidence must be confirmed from the final project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769AA"/>
                </a:solidFill>
              </a:defRPr>
            </a:pPr>
            <a:r>
              <a:t>TEAM 12  •  MILESTONE 6  •  DRAFT FOR VERIFICATION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8"/>
                </a:solidFill>
              </a:defRPr>
            </a:pPr>
            <a:r>
              <a:t>2. Test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69AA"/>
                </a:solidFill>
              </a:defRPr>
            </a:pPr>
            <a:r>
              <a:t>Planned validation areas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 area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What to verify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Evidence to record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Functional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Each implemented menu/action behaves as specified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Input, expected result, actual result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Input validation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Empty, invalid, and boundary inputs are handled safely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Input used and displayed response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Data handling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Records are added, viewed, updated/deleted only if supported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Before/after data or console output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Navigation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User can move through the available options and return/exit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Observed menu flow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Error handling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Invalid choices do not crash or corrupt the session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Error message and recovery behaviour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Regression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Previously working operations still work after changes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Repeat test results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769AA"/>
                </a:solidFill>
              </a:defRPr>
            </a:pPr>
            <a:r>
              <a:t>TEAM 12  •  MILESTONE 6  •  DRAFT FOR VERIFICATION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8"/>
                </a:solidFill>
              </a:defRPr>
            </a:pPr>
            <a:r>
              <a:t>3. Test Cases — Core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69AA"/>
                </a:solidFill>
              </a:defRPr>
            </a:pPr>
            <a:r>
              <a:t>Run only the cases that match implemented features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case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input / action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TC-01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Launch application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Run the final Java program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Application starts and shows its first screen/menu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Not executed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TC-02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Valid menu option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Select a valid listed option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Corresponding operation opens/runs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Not executed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TC-03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Invalid menu option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Enter an unsupported option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User receives a clear prompt; app remains usable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Not executed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TC-04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Empty input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Submit blank text where input is required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Input is rejected or requested again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Not executed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TC-05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View records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Choose the implemented view/list option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Available records display correctly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Not executed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TC-06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Exit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Choose the supported exit option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Application closes cleanly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Not executed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769AA"/>
                </a:solidFill>
              </a:defRPr>
            </a:pPr>
            <a:r>
              <a:t>TEAM 12  •  MILESTONE 6  •  DRAFT FOR VERIFICATION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8"/>
                </a:solidFill>
              </a:defRPr>
            </a:pPr>
            <a:r>
              <a:t>4. Feature-Specific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69AA"/>
                </a:solidFill>
              </a:defRPr>
            </a:pPr>
            <a:r>
              <a:t>Keep only rows for features that exist in the submitted version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 (if implemented)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action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TC-07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Add book/record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Enter valid details and save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New record is stored and can be viewed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Not executed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TC-08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Search record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Search using a valid title/ID/keyword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Matching record(s) are shown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Not executed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TC-09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Unknown search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Search for a non-existing record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Clear 'not found' or equivalent response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Not executed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TC-10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Update record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Edit an existing record, if supported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Updated values are retained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Not executed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TC-11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Delete record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Delete a selected record, if supported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Record is removed only after valid confirmation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Not executed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TC-12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Borrow/return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Use circulation workflow, if supported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Availability/status changes as specified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23C"/>
                          </a:solidFill>
                        </a:defRPr>
                      </a:pPr>
                      <a:r>
                        <a:t>Not executed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769AA"/>
                </a:solidFill>
              </a:defRPr>
            </a:pPr>
            <a:r>
              <a:t>TEAM 12  •  MILESTONE 6  •  DRAFT FOR VERIFICATION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8"/>
                </a:solidFill>
              </a:defRPr>
            </a:pPr>
            <a:r>
              <a:t>5. Test Results &amp; Defect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69AA"/>
                </a:solidFill>
              </a:defRPr>
            </a:pPr>
            <a:r>
              <a:t>Do not report a pass until the test has actually been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23C"/>
                </a:solidFill>
              </a:defRPr>
            </a:pPr>
            <a:r>
              <a:t>Execution status: pending verification by the team.</a:t>
            </a:r>
          </a:p>
          <a:p>
            <a:pPr>
              <a:spcAft>
                <a:spcPts val="1300"/>
              </a:spcAft>
              <a:defRPr sz="1800">
                <a:solidFill>
                  <a:srgbClr val="28323C"/>
                </a:solidFill>
              </a:defRPr>
            </a:pPr>
            <a:r>
              <a:t>No pass/fail claims are made in this draft because test execution evidence was not available in the readable source material.</a:t>
            </a:r>
          </a:p>
          <a:p>
            <a:pPr>
              <a:spcAft>
                <a:spcPts val="1300"/>
              </a:spcAft>
              <a:defRPr sz="1800">
                <a:solidFill>
                  <a:srgbClr val="28323C"/>
                </a:solidFill>
              </a:defRPr>
            </a:pPr>
            <a:r>
              <a:t>For each test, record: actual result, Pass/Fail/Blocked, date, tester, and evidence (screenshot or console output).</a:t>
            </a:r>
          </a:p>
          <a:p>
            <a:pPr>
              <a:spcAft>
                <a:spcPts val="1300"/>
              </a:spcAft>
              <a:defRPr sz="1800">
                <a:solidFill>
                  <a:srgbClr val="28323C"/>
                </a:solidFill>
              </a:defRPr>
            </a:pPr>
            <a:r>
              <a:t>Defect log fields: Defect ID • Test Case ID • Steps to reproduce • Expected vs actual result • Severity • Fix status.</a:t>
            </a:r>
          </a:p>
          <a:p>
            <a:pPr>
              <a:spcAft>
                <a:spcPts val="1300"/>
              </a:spcAft>
              <a:defRPr sz="1800">
                <a:solidFill>
                  <a:srgbClr val="28323C"/>
                </a:solidFill>
              </a:defRPr>
            </a:pPr>
            <a:r>
              <a:t>After fixes, rerun failed tests and relevant regression tests.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769AA"/>
                </a:solidFill>
              </a:defRPr>
            </a:pPr>
            <a:r>
              <a:t>TEAM 12  •  MILESTONE 6  •  DRAFT FOR VERIFICATION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8"/>
                </a:solidFill>
              </a:defRPr>
            </a:pPr>
            <a:r>
              <a:t>6. User Guide — 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69AA"/>
                </a:solidFill>
              </a:defRPr>
            </a:pPr>
            <a:r>
              <a:t>Confirm the exact run instructions for your Java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23C"/>
                </a:solidFill>
              </a:defRPr>
            </a:pPr>
            <a:r>
              <a:t>Prerequisites: a compatible Java Development Kit (JDK) and the project source/build files.</a:t>
            </a:r>
          </a:p>
          <a:p>
            <a:pPr>
              <a:spcAft>
                <a:spcPts val="1300"/>
              </a:spcAft>
              <a:defRPr sz="1900">
                <a:solidFill>
                  <a:srgbClr val="28323C"/>
                </a:solidFill>
              </a:defRPr>
            </a:pPr>
            <a:r>
              <a:t>Open the project in the IDE used by the team, or compile/run it using the project's documented setup.</a:t>
            </a:r>
          </a:p>
          <a:p>
            <a:pPr>
              <a:spcAft>
                <a:spcPts val="1300"/>
              </a:spcAft>
              <a:defRPr sz="1900">
                <a:solidFill>
                  <a:srgbClr val="28323C"/>
                </a:solidFill>
              </a:defRPr>
            </a:pPr>
            <a:r>
              <a:t>Run the configured main class or supplied launcher.</a:t>
            </a:r>
          </a:p>
          <a:p>
            <a:pPr>
              <a:spcAft>
                <a:spcPts val="1300"/>
              </a:spcAft>
              <a:defRPr sz="1900">
                <a:solidFill>
                  <a:srgbClr val="28323C"/>
                </a:solidFill>
              </a:defRPr>
            </a:pPr>
            <a:r>
              <a:t>Follow the on-screen menu and enter the option number/text exactly as shown.</a:t>
            </a:r>
          </a:p>
          <a:p>
            <a:pPr>
              <a:spcAft>
                <a:spcPts val="1300"/>
              </a:spcAft>
              <a:defRPr sz="1900">
                <a:solidFill>
                  <a:srgbClr val="28323C"/>
                </a:solidFill>
              </a:defRPr>
            </a:pPr>
            <a:r>
              <a:t>Use sample/test data while validating; avoid using real personal information.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769AA"/>
                </a:solidFill>
              </a:defRPr>
            </a:pPr>
            <a:r>
              <a:t>TEAM 12  •  MILESTONE 6  •  DRAFT FOR VERIFICATION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8"/>
                </a:solidFill>
              </a:defRPr>
            </a:pPr>
            <a:r>
              <a:t>7. User Guide — Typical Usage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69AA"/>
                </a:solidFill>
              </a:defRPr>
            </a:pPr>
            <a:r>
              <a:t>Adapt this flow to the menu and features actually implemented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65960" cy="2331720"/>
          </a:xfrm>
          <a:prstGeom prst="roundRect">
            <a:avLst/>
          </a:prstGeom>
          <a:solidFill>
            <a:srgbClr val="EFF5FA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16916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9196"/>
                </a:solidFill>
              </a:defRPr>
            </a:pPr>
            <a:r>
              <a:t>01</a:t>
            </a:r>
          </a:p>
          <a:p>
            <a:pPr algn="ctr">
              <a:defRPr sz="1600" b="1">
                <a:solidFill>
                  <a:srgbClr val="162A48"/>
                </a:solidFill>
              </a:defRPr>
            </a:pPr>
            <a:r>
              <a:t>Launch</a:t>
            </a:r>
          </a:p>
          <a:p>
            <a:pPr algn="ctr">
              <a:defRPr sz="1100">
                <a:solidFill>
                  <a:srgbClr val="28323C"/>
                </a:solidFill>
              </a:defRPr>
            </a:pPr>
            <a:r>
              <a:t>Start the application and wait for the main menu.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99232" y="1828800"/>
            <a:ext cx="1965960" cy="2331720"/>
          </a:xfrm>
          <a:prstGeom prst="roundRect">
            <a:avLst/>
          </a:prstGeom>
          <a:solidFill>
            <a:srgbClr val="EFF5FA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2029968"/>
            <a:ext cx="16916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9196"/>
                </a:solidFill>
              </a:defRPr>
            </a:pPr>
            <a:r>
              <a:t>02</a:t>
            </a:r>
          </a:p>
          <a:p>
            <a:pPr algn="ctr">
              <a:defRPr sz="1600" b="1">
                <a:solidFill>
                  <a:srgbClr val="162A48"/>
                </a:solidFill>
              </a:defRPr>
            </a:pPr>
            <a:r>
              <a:t>Choose</a:t>
            </a:r>
          </a:p>
          <a:p>
            <a:pPr algn="ctr">
              <a:defRPr sz="1100">
                <a:solidFill>
                  <a:srgbClr val="28323C"/>
                </a:solidFill>
              </a:defRPr>
            </a:pPr>
            <a:r>
              <a:t>Select an operation shown by the program.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66944" y="1828800"/>
            <a:ext cx="1965960" cy="2331720"/>
          </a:xfrm>
          <a:prstGeom prst="roundRect">
            <a:avLst/>
          </a:prstGeom>
          <a:solidFill>
            <a:srgbClr val="EFF5FA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4104" y="2029968"/>
            <a:ext cx="16916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9196"/>
                </a:solidFill>
              </a:defRPr>
            </a:pPr>
            <a:r>
              <a:t>03</a:t>
            </a:r>
          </a:p>
          <a:p>
            <a:pPr algn="ctr">
              <a:defRPr sz="1600" b="1">
                <a:solidFill>
                  <a:srgbClr val="162A48"/>
                </a:solidFill>
              </a:defRPr>
            </a:pPr>
            <a:r>
              <a:t>Enter details</a:t>
            </a:r>
          </a:p>
          <a:p>
            <a:pPr algn="ctr">
              <a:defRPr sz="1100">
                <a:solidFill>
                  <a:srgbClr val="28323C"/>
                </a:solidFill>
              </a:defRPr>
            </a:pPr>
            <a:r>
              <a:t>Provide the requested values in the required format.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4656" y="1828800"/>
            <a:ext cx="1965960" cy="2331720"/>
          </a:xfrm>
          <a:prstGeom prst="roundRect">
            <a:avLst/>
          </a:prstGeom>
          <a:solidFill>
            <a:srgbClr val="EFF5FA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6" y="2029968"/>
            <a:ext cx="16916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9196"/>
                </a:solidFill>
              </a:defRPr>
            </a:pPr>
            <a:r>
              <a:t>04</a:t>
            </a:r>
          </a:p>
          <a:p>
            <a:pPr algn="ctr">
              <a:defRPr sz="1600" b="1">
                <a:solidFill>
                  <a:srgbClr val="162A48"/>
                </a:solidFill>
              </a:defRPr>
            </a:pPr>
            <a:r>
              <a:t>Review</a:t>
            </a:r>
          </a:p>
          <a:p>
            <a:pPr algn="ctr">
              <a:defRPr sz="1100">
                <a:solidFill>
                  <a:srgbClr val="28323C"/>
                </a:solidFill>
              </a:defRPr>
            </a:pPr>
            <a:r>
              <a:t>Check the displayed result or confirmation.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1828800"/>
            <a:ext cx="1965960" cy="2331720"/>
          </a:xfrm>
          <a:prstGeom prst="roundRect">
            <a:avLst/>
          </a:prstGeom>
          <a:solidFill>
            <a:srgbClr val="EFF5FA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39528" y="2029968"/>
            <a:ext cx="16916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9196"/>
                </a:solidFill>
              </a:defRPr>
            </a:pPr>
            <a:r>
              <a:t>05</a:t>
            </a:r>
          </a:p>
          <a:p>
            <a:pPr algn="ctr">
              <a:defRPr sz="1600" b="1">
                <a:solidFill>
                  <a:srgbClr val="162A48"/>
                </a:solidFill>
              </a:defRPr>
            </a:pPr>
            <a:r>
              <a:t>Continue / exit</a:t>
            </a:r>
          </a:p>
          <a:p>
            <a:pPr algn="ctr">
              <a:defRPr sz="1100">
                <a:solidFill>
                  <a:srgbClr val="28323C"/>
                </a:solidFill>
              </a:defRPr>
            </a:pPr>
            <a:r>
              <a:t>Return to the menu or use the supported exit option.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769AA"/>
                </a:solidFill>
              </a:defRPr>
            </a:pPr>
            <a:r>
              <a:t>TEAM 12  •  MILESTONE 6  •  DRAFT FOR VERIFICATION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8"/>
                </a:solidFill>
              </a:defRPr>
            </a:pPr>
            <a:r>
              <a:t>8. Troubleshooting &amp; Good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69AA"/>
                </a:solidFill>
              </a:defRPr>
            </a:pPr>
            <a:r>
              <a:t>Generic guidance — tailor to the application's actual messages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Suggested action</a:t>
                      </a:r>
                    </a:p>
                  </a:txBody>
                  <a:tcPr marL="64008" marR="54864" marT="36576" marB="36576">
                    <a:solidFill>
                      <a:srgbClr val="162A4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Program does not start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Check JDK/IDE setup, main class, and build/run configuration.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Invalid option message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Return to the menu and choose one of the displayed options.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Input is not accepted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Check required format and avoid leaving mandatory fields blank.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Record not found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Check spelling/identifier and confirm the record exists.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Unexpected output or crash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Capture the input and error message; report it to the project team.</a:t>
                      </a:r>
                    </a:p>
                  </a:txBody>
                  <a:tcPr marL="64008" marR="54864" marT="36576" marB="36576"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Data seems missing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323C"/>
                          </a:solidFill>
                        </a:defRPr>
                      </a:pPr>
                      <a:r>
                        <a:t>Check whether the application persists data or stores it only for the current session.</a:t>
                      </a:r>
                    </a:p>
                  </a:txBody>
                  <a:tcPr marL="64008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769AA"/>
                </a:solidFill>
              </a:defRPr>
            </a:pPr>
            <a:r>
              <a:t>TEAM 12  •  MILESTONE 6  •  DRAFT FOR VERIFICATION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8"/>
                </a:solidFill>
              </a:defRPr>
            </a:pPr>
            <a:r>
              <a:t>9. Submission Readiness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69AA"/>
                </a:solidFill>
              </a:defRPr>
            </a:pPr>
            <a:r>
              <a:t>Complete before presenting or submitting Milestone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23C"/>
                </a:solidFill>
              </a:defRPr>
            </a:pPr>
            <a:r>
              <a:t>Replace generic test cases with the exact features and menu options in the final source code.</a:t>
            </a:r>
          </a:p>
          <a:p>
            <a:pPr>
              <a:spcAft>
                <a:spcPts val="1300"/>
              </a:spcAft>
              <a:defRPr sz="1800">
                <a:solidFill>
                  <a:srgbClr val="28323C"/>
                </a:solidFill>
              </a:defRPr>
            </a:pPr>
            <a:r>
              <a:t>Execute tests and update each status with actual results; attach screenshots/console evidence.</a:t>
            </a:r>
          </a:p>
          <a:p>
            <a:pPr>
              <a:spcAft>
                <a:spcPts val="1300"/>
              </a:spcAft>
              <a:defRPr sz="1800">
                <a:solidFill>
                  <a:srgbClr val="28323C"/>
                </a:solidFill>
              </a:defRPr>
            </a:pPr>
            <a:r>
              <a:t>Add team member names, course/section, submission date, and version details required by the course template.</a:t>
            </a:r>
          </a:p>
          <a:p>
            <a:pPr>
              <a:spcAft>
                <a:spcPts val="1300"/>
              </a:spcAft>
              <a:defRPr sz="1800">
                <a:solidFill>
                  <a:srgbClr val="28323C"/>
                </a:solidFill>
              </a:defRPr>
            </a:pPr>
            <a:r>
              <a:t>Include a screenshot of the main menu and important workflows in the final version.</a:t>
            </a:r>
          </a:p>
          <a:p>
            <a:pPr>
              <a:spcAft>
                <a:spcPts val="1300"/>
              </a:spcAft>
              <a:defRPr sz="1800">
                <a:solidFill>
                  <a:srgbClr val="28323C"/>
                </a:solidFill>
              </a:defRPr>
            </a:pPr>
            <a:r>
              <a:t>Check consistency with Milestone 4 and the final submitted implementation.</a:t>
            </a:r>
          </a:p>
          <a:p>
            <a:pPr>
              <a:spcAft>
                <a:spcPts val="1300"/>
              </a:spcAft>
              <a:defRPr sz="1800">
                <a:solidFill>
                  <a:srgbClr val="28323C"/>
                </a:solidFill>
              </a:defRPr>
            </a:pPr>
            <a:r>
              <a:t>Remove this draft note once all source-specific details and test evidence have been verified.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769AA"/>
                </a:solidFill>
              </a:defRPr>
            </a:pPr>
            <a:r>
              <a:t>TEAM 12  •  MILESTONE 6  •  DRAFT FOR VERIFICATION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8"/>
                </a:solidFill>
              </a:defRPr>
            </a:pPr>
            <a:r>
              <a:rPr>
                <a:solidFill>
                  <a:srgbClr val="FFFFFF"/>
                </a:solidFill>
              </a:rPr>
              <a:t>10. Items Requiring Team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769AA"/>
                </a:solidFill>
              </a:defRPr>
            </a:pPr>
            <a:r>
              <a:t>Required to convert this draft into a final evidence-backed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332720" cy="4023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23C"/>
                </a:solidFill>
              </a:defRPr>
            </a:pPr>
            <a:r>
              <a:t>Exact features and data model from the Java source code.</a:t>
            </a:r>
          </a:p>
          <a:p>
            <a:pPr>
              <a:spcAft>
                <a:spcPts val="1300"/>
              </a:spcAft>
              <a:defRPr sz="2000">
                <a:solidFill>
                  <a:srgbClr val="28323C"/>
                </a:solidFill>
              </a:defRPr>
            </a:pPr>
            <a:r>
              <a:t>Names of team members and required course/institution details.</a:t>
            </a:r>
          </a:p>
          <a:p>
            <a:pPr>
              <a:spcAft>
                <a:spcPts val="1300"/>
              </a:spcAft>
              <a:defRPr sz="2000">
                <a:solidFill>
                  <a:srgbClr val="28323C"/>
                </a:solidFill>
              </a:defRPr>
            </a:pPr>
            <a:r>
              <a:t>Actual execution results, defects, fixes, and evidence.</a:t>
            </a:r>
          </a:p>
          <a:p>
            <a:pPr>
              <a:spcAft>
                <a:spcPts val="1300"/>
              </a:spcAft>
              <a:defRPr sz="2000">
                <a:solidFill>
                  <a:srgbClr val="28323C"/>
                </a:solidFill>
              </a:defRPr>
            </a:pPr>
            <a:r>
              <a:t>Any required format, headings, or scoring criteria in the official Milestone 6 template.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769AA"/>
                </a:solidFill>
              </a:defRPr>
            </a:pPr>
            <a:r>
              <a:t>TEAM 12  •  MILESTONE 6  •  DRAFT FOR VERIFICATION                              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